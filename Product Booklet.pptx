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80" r:id="rId2"/>
    <p:sldId id="256" r:id="rId3"/>
    <p:sldId id="257" r:id="rId4"/>
    <p:sldId id="279" r:id="rId5"/>
    <p:sldId id="274" r:id="rId6"/>
    <p:sldId id="275" r:id="rId7"/>
    <p:sldId id="276" r:id="rId8"/>
    <p:sldId id="277" r:id="rId9"/>
    <p:sldId id="278" r:id="rId10"/>
    <p:sldId id="268" r:id="rId11"/>
    <p:sldId id="269" r:id="rId12"/>
  </p:sldIdLst>
  <p:sldSz cx="10693400" cy="7562850"/>
  <p:notesSz cx="10693400" cy="756285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9" d="100"/>
          <a:sy n="69" d="100"/>
        </p:scale>
        <p:origin x="-1080"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782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6057900" y="0"/>
            <a:ext cx="4632325" cy="377825"/>
          </a:xfrm>
          <a:prstGeom prst="rect">
            <a:avLst/>
          </a:prstGeom>
        </p:spPr>
        <p:txBody>
          <a:bodyPr vert="horz" lIns="91440" tIns="45720" rIns="91440" bIns="45720" rtlCol="0"/>
          <a:lstStyle>
            <a:lvl1pPr algn="r">
              <a:defRPr sz="1200"/>
            </a:lvl1pPr>
          </a:lstStyle>
          <a:p>
            <a:fld id="{A47400C3-B012-4253-9A43-D82F0ACCECCB}" type="datetimeFigureOut">
              <a:rPr lang="en-GB" smtClean="0"/>
              <a:t>09/05/2025</a:t>
            </a:fld>
            <a:endParaRPr lang="en-GB"/>
          </a:p>
        </p:txBody>
      </p:sp>
      <p:sp>
        <p:nvSpPr>
          <p:cNvPr id="4" name="Slide Image Placeholder 3"/>
          <p:cNvSpPr>
            <a:spLocks noGrp="1" noRot="1" noChangeAspect="1"/>
          </p:cNvSpPr>
          <p:nvPr>
            <p:ph type="sldImg" idx="2"/>
          </p:nvPr>
        </p:nvSpPr>
        <p:spPr>
          <a:xfrm>
            <a:off x="3341688" y="566738"/>
            <a:ext cx="4010025" cy="283686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069975" y="3592513"/>
            <a:ext cx="8553450" cy="34036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7183438"/>
            <a:ext cx="4633913" cy="37782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6057900" y="7183438"/>
            <a:ext cx="4632325" cy="377825"/>
          </a:xfrm>
          <a:prstGeom prst="rect">
            <a:avLst/>
          </a:prstGeom>
        </p:spPr>
        <p:txBody>
          <a:bodyPr vert="horz" lIns="91440" tIns="45720" rIns="91440" bIns="45720" rtlCol="0" anchor="b"/>
          <a:lstStyle>
            <a:lvl1pPr algn="r">
              <a:defRPr sz="1200"/>
            </a:lvl1pPr>
          </a:lstStyle>
          <a:p>
            <a:fld id="{53C89E37-D9C1-4DFA-8D72-B15678BD706E}" type="slidenum">
              <a:rPr lang="en-GB" smtClean="0"/>
              <a:t>‹#›</a:t>
            </a:fld>
            <a:endParaRPr lang="en-GB"/>
          </a:p>
        </p:txBody>
      </p:sp>
    </p:spTree>
    <p:extLst>
      <p:ext uri="{BB962C8B-B14F-4D97-AF65-F5344CB8AC3E}">
        <p14:creationId xmlns:p14="http://schemas.microsoft.com/office/powerpoint/2010/main" val="14291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3C89E37-D9C1-4DFA-8D72-B15678BD706E}" type="slidenum">
              <a:rPr lang="en-GB" smtClean="0"/>
              <a:t>11</a:t>
            </a:fld>
            <a:endParaRPr lang="en-GB"/>
          </a:p>
        </p:txBody>
      </p:sp>
    </p:spTree>
    <p:extLst>
      <p:ext uri="{BB962C8B-B14F-4D97-AF65-F5344CB8AC3E}">
        <p14:creationId xmlns:p14="http://schemas.microsoft.com/office/powerpoint/2010/main" val="1390968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sz="3000" b="0" i="1">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5/9/2025</a:t>
            </a:fld>
            <a:endParaRPr lang="en-US"/>
          </a:p>
        </p:txBody>
      </p:sp>
      <p:sp>
        <p:nvSpPr>
          <p:cNvPr id="6" name="Holder 6"/>
          <p:cNvSpPr>
            <a:spLocks noGrp="1"/>
          </p:cNvSpPr>
          <p:nvPr>
            <p:ph type="sldNum" sz="quarter" idx="7"/>
          </p:nvPr>
        </p:nvSpPr>
        <p:spPr/>
        <p:txBody>
          <a:bodyPr lIns="0" tIns="0" rIns="0" bIns="0"/>
          <a:lstStyle>
            <a:lvl1pPr>
              <a:defRPr sz="2200" b="1" i="0">
                <a:solidFill>
                  <a:schemeClr val="tx1"/>
                </a:solidFill>
                <a:latin typeface="Trebuchet MS"/>
                <a:cs typeface="Trebuchet MS"/>
              </a:defRPr>
            </a:lvl1pPr>
          </a:lstStyle>
          <a:p>
            <a:pPr marL="138430">
              <a:lnSpc>
                <a:spcPts val="2625"/>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3000" b="0" i="1">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5/9/2025</a:t>
            </a:fld>
            <a:endParaRPr lang="en-US"/>
          </a:p>
        </p:txBody>
      </p:sp>
      <p:sp>
        <p:nvSpPr>
          <p:cNvPr id="6" name="Holder 6"/>
          <p:cNvSpPr>
            <a:spLocks noGrp="1"/>
          </p:cNvSpPr>
          <p:nvPr>
            <p:ph type="sldNum" sz="quarter" idx="7"/>
          </p:nvPr>
        </p:nvSpPr>
        <p:spPr/>
        <p:txBody>
          <a:bodyPr lIns="0" tIns="0" rIns="0" bIns="0"/>
          <a:lstStyle>
            <a:lvl1pPr>
              <a:defRPr sz="2200" b="1" i="0">
                <a:solidFill>
                  <a:schemeClr val="tx1"/>
                </a:solidFill>
                <a:latin typeface="Trebuchet MS"/>
                <a:cs typeface="Trebuchet MS"/>
              </a:defRPr>
            </a:lvl1pPr>
          </a:lstStyle>
          <a:p>
            <a:pPr marL="138430">
              <a:lnSpc>
                <a:spcPts val="2625"/>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47299" y="1546279"/>
            <a:ext cx="4514850" cy="4150360"/>
          </a:xfrm>
          <a:prstGeom prst="rect">
            <a:avLst/>
          </a:prstGeom>
        </p:spPr>
        <p:txBody>
          <a:bodyPr wrap="square" lIns="0" tIns="0" rIns="0" bIns="0">
            <a:spAutoFit/>
          </a:bodyPr>
          <a:lstStyle>
            <a:lvl1pPr>
              <a:defRPr sz="2200" b="1" i="1">
                <a:solidFill>
                  <a:schemeClr val="tx1"/>
                </a:solidFill>
                <a:latin typeface="Verdana"/>
                <a:cs typeface="Verdana"/>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5/9/2025</a:t>
            </a:fld>
            <a:endParaRPr lang="en-US"/>
          </a:p>
        </p:txBody>
      </p:sp>
      <p:sp>
        <p:nvSpPr>
          <p:cNvPr id="7" name="Holder 7"/>
          <p:cNvSpPr>
            <a:spLocks noGrp="1"/>
          </p:cNvSpPr>
          <p:nvPr>
            <p:ph type="sldNum" sz="quarter" idx="7"/>
          </p:nvPr>
        </p:nvSpPr>
        <p:spPr/>
        <p:txBody>
          <a:bodyPr lIns="0" tIns="0" rIns="0" bIns="0"/>
          <a:lstStyle>
            <a:lvl1pPr>
              <a:defRPr sz="2200" b="1" i="0">
                <a:solidFill>
                  <a:schemeClr val="tx1"/>
                </a:solidFill>
                <a:latin typeface="Trebuchet MS"/>
                <a:cs typeface="Trebuchet MS"/>
              </a:defRPr>
            </a:lvl1pPr>
          </a:lstStyle>
          <a:p>
            <a:pPr marL="138430">
              <a:lnSpc>
                <a:spcPts val="2625"/>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5/9/2025</a:t>
            </a:fld>
            <a:endParaRPr lang="en-US"/>
          </a:p>
        </p:txBody>
      </p:sp>
      <p:sp>
        <p:nvSpPr>
          <p:cNvPr id="5" name="Holder 5"/>
          <p:cNvSpPr>
            <a:spLocks noGrp="1"/>
          </p:cNvSpPr>
          <p:nvPr>
            <p:ph type="sldNum" sz="quarter" idx="7"/>
          </p:nvPr>
        </p:nvSpPr>
        <p:spPr/>
        <p:txBody>
          <a:bodyPr lIns="0" tIns="0" rIns="0" bIns="0"/>
          <a:lstStyle>
            <a:lvl1pPr>
              <a:defRPr sz="2200" b="1" i="0">
                <a:solidFill>
                  <a:schemeClr val="tx1"/>
                </a:solidFill>
                <a:latin typeface="Trebuchet MS"/>
                <a:cs typeface="Trebuchet MS"/>
              </a:defRPr>
            </a:lvl1pPr>
          </a:lstStyle>
          <a:p>
            <a:pPr marL="138430">
              <a:lnSpc>
                <a:spcPts val="2625"/>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5/9/2025</a:t>
            </a:fld>
            <a:endParaRPr lang="en-US"/>
          </a:p>
        </p:txBody>
      </p:sp>
      <p:sp>
        <p:nvSpPr>
          <p:cNvPr id="4" name="Holder 4"/>
          <p:cNvSpPr>
            <a:spLocks noGrp="1"/>
          </p:cNvSpPr>
          <p:nvPr>
            <p:ph type="sldNum" sz="quarter" idx="7"/>
          </p:nvPr>
        </p:nvSpPr>
        <p:spPr/>
        <p:txBody>
          <a:bodyPr lIns="0" tIns="0" rIns="0" bIns="0"/>
          <a:lstStyle>
            <a:lvl1pPr>
              <a:defRPr sz="2200" b="1" i="0">
                <a:solidFill>
                  <a:schemeClr val="tx1"/>
                </a:solidFill>
                <a:latin typeface="Trebuchet MS"/>
                <a:cs typeface="Trebuchet MS"/>
              </a:defRPr>
            </a:lvl1pPr>
          </a:lstStyle>
          <a:p>
            <a:pPr marL="138430">
              <a:lnSpc>
                <a:spcPts val="2625"/>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64663" y="359777"/>
            <a:ext cx="7328534" cy="756919"/>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1877068" y="2653800"/>
            <a:ext cx="6939262" cy="2311400"/>
          </a:xfrm>
          <a:prstGeom prst="rect">
            <a:avLst/>
          </a:prstGeom>
        </p:spPr>
        <p:txBody>
          <a:bodyPr wrap="square" lIns="0" tIns="0" rIns="0" bIns="0">
            <a:spAutoFit/>
          </a:bodyPr>
          <a:lstStyle>
            <a:lvl1pPr>
              <a:defRPr sz="3000" b="0" i="1">
                <a:solidFill>
                  <a:schemeClr val="tx1"/>
                </a:solidFill>
                <a:latin typeface="Verdana"/>
                <a:cs typeface="Verdana"/>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5/9/2025</a:t>
            </a:fld>
            <a:endParaRPr lang="en-US"/>
          </a:p>
        </p:txBody>
      </p:sp>
      <p:sp>
        <p:nvSpPr>
          <p:cNvPr id="6" name="Holder 6"/>
          <p:cNvSpPr>
            <a:spLocks noGrp="1"/>
          </p:cNvSpPr>
          <p:nvPr>
            <p:ph type="sldNum" sz="quarter" idx="7"/>
          </p:nvPr>
        </p:nvSpPr>
        <p:spPr>
          <a:xfrm>
            <a:off x="9928198" y="7028879"/>
            <a:ext cx="357684" cy="366395"/>
          </a:xfrm>
          <a:prstGeom prst="rect">
            <a:avLst/>
          </a:prstGeom>
        </p:spPr>
        <p:txBody>
          <a:bodyPr wrap="square" lIns="0" tIns="0" rIns="0" bIns="0">
            <a:spAutoFit/>
          </a:bodyPr>
          <a:lstStyle>
            <a:lvl1pPr>
              <a:defRPr sz="2200" b="1" i="0">
                <a:solidFill>
                  <a:schemeClr val="tx1"/>
                </a:solidFill>
                <a:latin typeface="Trebuchet MS"/>
                <a:cs typeface="Trebuchet MS"/>
              </a:defRPr>
            </a:lvl1pPr>
          </a:lstStyle>
          <a:p>
            <a:pPr marL="138430">
              <a:lnSpc>
                <a:spcPts val="2625"/>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3300" y="1495425"/>
            <a:ext cx="8458200" cy="5416868"/>
          </a:xfrm>
          <a:prstGeom prst="rect">
            <a:avLst/>
          </a:prstGeom>
          <a:noFill/>
        </p:spPr>
        <p:txBody>
          <a:bodyPr wrap="square" rtlCol="0">
            <a:spAutoFit/>
          </a:bodyPr>
          <a:lstStyle/>
          <a:p>
            <a:r>
              <a:rPr lang="en-US" sz="3600" b="1" dirty="0" smtClean="0"/>
              <a:t>Booklets Contents</a:t>
            </a:r>
            <a:endParaRPr lang="en-US" sz="3600" b="1" dirty="0"/>
          </a:p>
          <a:p>
            <a:pPr lvl="6"/>
            <a:r>
              <a:rPr lang="en-US" sz="3600" dirty="0" smtClean="0"/>
              <a:t>    - </a:t>
            </a:r>
            <a:r>
              <a:rPr lang="en-US" sz="3200" dirty="0" smtClean="0"/>
              <a:t>Cover-Page (Front Page)</a:t>
            </a:r>
          </a:p>
          <a:p>
            <a:pPr lvl="2"/>
            <a:r>
              <a:rPr lang="en-US" sz="3200" dirty="0" smtClean="0"/>
              <a:t>     - Product Overview</a:t>
            </a:r>
          </a:p>
          <a:p>
            <a:pPr lvl="2"/>
            <a:r>
              <a:rPr lang="en-US" sz="3200" dirty="0" smtClean="0"/>
              <a:t>     - Product Idea (Problem &amp; Solution)</a:t>
            </a:r>
          </a:p>
          <a:p>
            <a:pPr lvl="2"/>
            <a:r>
              <a:rPr lang="en-US" sz="3200" dirty="0" smtClean="0"/>
              <a:t>     - Product Functions/Operations</a:t>
            </a:r>
          </a:p>
          <a:p>
            <a:pPr lvl="2"/>
            <a:r>
              <a:rPr lang="en-US" sz="3200" dirty="0" smtClean="0"/>
              <a:t>     - Product Revenue Model</a:t>
            </a:r>
          </a:p>
          <a:p>
            <a:pPr lvl="2"/>
            <a:r>
              <a:rPr lang="en-US" sz="3200" dirty="0" smtClean="0"/>
              <a:t>     - Product Future Expansion &amp; Growth</a:t>
            </a:r>
          </a:p>
          <a:p>
            <a:pPr lvl="2"/>
            <a:r>
              <a:rPr lang="en-US" sz="3200" dirty="0" smtClean="0"/>
              <a:t>     - Team Info</a:t>
            </a:r>
          </a:p>
          <a:p>
            <a:pPr lvl="2"/>
            <a:r>
              <a:rPr lang="en-US" sz="3200" dirty="0" smtClean="0"/>
              <a:t>     - </a:t>
            </a:r>
            <a:r>
              <a:rPr lang="en-US" sz="3200" dirty="0" err="1" smtClean="0"/>
              <a:t>BackCover</a:t>
            </a:r>
            <a:r>
              <a:rPr lang="en-US" sz="3200" dirty="0" smtClean="0"/>
              <a:t> </a:t>
            </a:r>
          </a:p>
          <a:p>
            <a:pPr lvl="2"/>
            <a:endParaRPr lang="en-US" sz="3200" dirty="0" smtClean="0"/>
          </a:p>
          <a:p>
            <a:r>
              <a:rPr lang="en-US" b="1" dirty="0" smtClean="0">
                <a:solidFill>
                  <a:srgbClr val="FF0000"/>
                </a:solidFill>
              </a:rPr>
              <a:t>Note: Please do not attach this page in your booklet.</a:t>
            </a:r>
            <a:r>
              <a:rPr lang="en-US" dirty="0" smtClean="0"/>
              <a:t> </a:t>
            </a:r>
            <a:endParaRPr lang="en-GB" dirty="0"/>
          </a:p>
        </p:txBody>
      </p:sp>
    </p:spTree>
    <p:extLst>
      <p:ext uri="{BB962C8B-B14F-4D97-AF65-F5344CB8AC3E}">
        <p14:creationId xmlns:p14="http://schemas.microsoft.com/office/powerpoint/2010/main" val="2152057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31425"/>
            <a:ext cx="10692003" cy="7560000"/>
          </a:xfrm>
          <a:prstGeom prst="rect">
            <a:avLst/>
          </a:prstGeom>
        </p:spPr>
      </p:pic>
      <p:sp>
        <p:nvSpPr>
          <p:cNvPr id="3" name="object 3"/>
          <p:cNvSpPr txBox="1"/>
          <p:nvPr/>
        </p:nvSpPr>
        <p:spPr>
          <a:xfrm>
            <a:off x="9046388" y="6705542"/>
            <a:ext cx="1049020" cy="299720"/>
          </a:xfrm>
          <a:prstGeom prst="rect">
            <a:avLst/>
          </a:prstGeom>
        </p:spPr>
        <p:txBody>
          <a:bodyPr vert="horz" wrap="square" lIns="0" tIns="12700" rIns="0" bIns="0" rtlCol="0">
            <a:spAutoFit/>
          </a:bodyPr>
          <a:lstStyle/>
          <a:p>
            <a:pPr marL="12700">
              <a:lnSpc>
                <a:spcPct val="100000"/>
              </a:lnSpc>
              <a:spcBef>
                <a:spcPts val="100"/>
              </a:spcBef>
            </a:pPr>
            <a:r>
              <a:rPr sz="1800" b="1" i="1" spc="55" dirty="0">
                <a:solidFill>
                  <a:srgbClr val="FFFFFF"/>
                </a:solidFill>
                <a:latin typeface="Arial"/>
                <a:cs typeface="Arial"/>
              </a:rPr>
              <a:t>Nov</a:t>
            </a:r>
            <a:r>
              <a:rPr sz="1800" b="1" i="1" spc="15" dirty="0">
                <a:solidFill>
                  <a:srgbClr val="FFFFFF"/>
                </a:solidFill>
                <a:latin typeface="Arial"/>
                <a:cs typeface="Arial"/>
              </a:rPr>
              <a:t> </a:t>
            </a:r>
            <a:r>
              <a:rPr sz="1800" b="1" i="1" spc="-20" dirty="0">
                <a:solidFill>
                  <a:srgbClr val="FFFFFF"/>
                </a:solidFill>
                <a:latin typeface="Arial"/>
                <a:cs typeface="Arial"/>
              </a:rPr>
              <a:t>2021</a:t>
            </a:r>
            <a:endParaRPr sz="1800" dirty="0">
              <a:latin typeface="Arial"/>
              <a:cs typeface="Arial"/>
            </a:endParaRPr>
          </a:p>
        </p:txBody>
      </p:sp>
      <p:sp>
        <p:nvSpPr>
          <p:cNvPr id="4" name="object 4"/>
          <p:cNvSpPr txBox="1"/>
          <p:nvPr/>
        </p:nvSpPr>
        <p:spPr>
          <a:xfrm>
            <a:off x="1003300" y="3558631"/>
            <a:ext cx="6248400" cy="679994"/>
          </a:xfrm>
          <a:prstGeom prst="rect">
            <a:avLst/>
          </a:prstGeom>
        </p:spPr>
        <p:txBody>
          <a:bodyPr vert="horz" wrap="square" lIns="0" tIns="12700" rIns="0" bIns="0" rtlCol="0">
            <a:spAutoFit/>
          </a:bodyPr>
          <a:lstStyle/>
          <a:p>
            <a:pPr marL="12700">
              <a:lnSpc>
                <a:spcPct val="114000"/>
              </a:lnSpc>
            </a:pPr>
            <a:r>
              <a:rPr lang="en-US" sz="2000" i="1" dirty="0" smtClean="0">
                <a:latin typeface="Verdana" pitchFamily="34" charset="0"/>
                <a:ea typeface="Verdana" pitchFamily="34" charset="0"/>
              </a:rPr>
              <a:t>At </a:t>
            </a:r>
            <a:r>
              <a:rPr lang="en-US" sz="2000" i="1" dirty="0" err="1" smtClean="0">
                <a:latin typeface="Verdana" pitchFamily="34" charset="0"/>
                <a:ea typeface="Verdana" pitchFamily="34" charset="0"/>
              </a:rPr>
              <a:t>Kloudrop</a:t>
            </a:r>
            <a:r>
              <a:rPr lang="en-US" sz="2000" i="1" dirty="0" smtClean="0">
                <a:latin typeface="Verdana" pitchFamily="34" charset="0"/>
                <a:ea typeface="Verdana" pitchFamily="34" charset="0"/>
              </a:rPr>
              <a:t>, our passion is to make shopping easy, simple and safe for you and your family.</a:t>
            </a:r>
            <a:endParaRPr sz="2000" i="1" dirty="0">
              <a:latin typeface="Verdana" pitchFamily="34" charset="0"/>
              <a:ea typeface="Verdana" pitchFamily="34" charset="0"/>
              <a:cs typeface="Arial"/>
            </a:endParaRPr>
          </a:p>
        </p:txBody>
      </p:sp>
      <p:sp>
        <p:nvSpPr>
          <p:cNvPr id="5" name="object 5"/>
          <p:cNvSpPr txBox="1"/>
          <p:nvPr/>
        </p:nvSpPr>
        <p:spPr>
          <a:xfrm>
            <a:off x="851300" y="2888877"/>
            <a:ext cx="4743450" cy="360680"/>
          </a:xfrm>
          <a:prstGeom prst="rect">
            <a:avLst/>
          </a:prstGeom>
        </p:spPr>
        <p:txBody>
          <a:bodyPr vert="horz" wrap="square" lIns="0" tIns="12700" rIns="0" bIns="0" rtlCol="0">
            <a:spAutoFit/>
          </a:bodyPr>
          <a:lstStyle/>
          <a:p>
            <a:pPr marL="12700">
              <a:lnSpc>
                <a:spcPct val="100000"/>
              </a:lnSpc>
              <a:spcBef>
                <a:spcPts val="100"/>
              </a:spcBef>
            </a:pPr>
            <a:r>
              <a:rPr sz="2200" i="1" dirty="0">
                <a:latin typeface="Verdana"/>
                <a:cs typeface="Verdana"/>
              </a:rPr>
              <a:t>“</a:t>
            </a:r>
            <a:r>
              <a:rPr sz="2200" i="1" spc="-50" dirty="0">
                <a:latin typeface="Verdana"/>
                <a:cs typeface="Verdana"/>
              </a:rPr>
              <a:t> </a:t>
            </a:r>
            <a:r>
              <a:rPr sz="2200" i="1" dirty="0">
                <a:latin typeface="Verdana"/>
                <a:cs typeface="Verdana"/>
              </a:rPr>
              <a:t>Ethnic</a:t>
            </a:r>
            <a:r>
              <a:rPr sz="2200" i="1" spc="-50" dirty="0">
                <a:latin typeface="Verdana"/>
                <a:cs typeface="Verdana"/>
              </a:rPr>
              <a:t> </a:t>
            </a:r>
            <a:r>
              <a:rPr sz="2200" i="1" spc="60" dirty="0">
                <a:latin typeface="Verdana"/>
                <a:cs typeface="Verdana"/>
              </a:rPr>
              <a:t>food</a:t>
            </a:r>
            <a:r>
              <a:rPr sz="2200" i="1" spc="-45" dirty="0">
                <a:latin typeface="Verdana"/>
                <a:cs typeface="Verdana"/>
              </a:rPr>
              <a:t> </a:t>
            </a:r>
            <a:r>
              <a:rPr sz="2200" i="1" dirty="0">
                <a:latin typeface="Verdana"/>
                <a:cs typeface="Verdana"/>
              </a:rPr>
              <a:t>from</a:t>
            </a:r>
            <a:r>
              <a:rPr sz="2200" i="1" spc="-50" dirty="0">
                <a:latin typeface="Verdana"/>
                <a:cs typeface="Verdana"/>
              </a:rPr>
              <a:t> </a:t>
            </a:r>
            <a:r>
              <a:rPr sz="2200" i="1" dirty="0">
                <a:latin typeface="Verdana"/>
                <a:cs typeface="Verdana"/>
              </a:rPr>
              <a:t>store</a:t>
            </a:r>
            <a:r>
              <a:rPr sz="2200" i="1" spc="-50" dirty="0">
                <a:latin typeface="Verdana"/>
                <a:cs typeface="Verdana"/>
              </a:rPr>
              <a:t> </a:t>
            </a:r>
            <a:r>
              <a:rPr sz="2200" i="1" dirty="0">
                <a:latin typeface="Verdana"/>
                <a:cs typeface="Verdana"/>
              </a:rPr>
              <a:t>to</a:t>
            </a:r>
            <a:r>
              <a:rPr sz="2200" i="1" spc="-45" dirty="0">
                <a:latin typeface="Verdana"/>
                <a:cs typeface="Verdana"/>
              </a:rPr>
              <a:t> </a:t>
            </a:r>
            <a:r>
              <a:rPr sz="2200" i="1" spc="50" dirty="0">
                <a:latin typeface="Verdana"/>
                <a:cs typeface="Verdana"/>
              </a:rPr>
              <a:t>door</a:t>
            </a:r>
            <a:r>
              <a:rPr sz="2200" i="1" spc="-50" dirty="0">
                <a:latin typeface="Verdana"/>
                <a:cs typeface="Verdana"/>
              </a:rPr>
              <a:t> ”</a:t>
            </a:r>
            <a:endParaRPr sz="2200" dirty="0">
              <a:latin typeface="Verdana"/>
              <a:cs typeface="Verdana"/>
            </a:endParaRPr>
          </a:p>
        </p:txBody>
      </p:sp>
      <p:pic>
        <p:nvPicPr>
          <p:cNvPr id="6" name="object 6"/>
          <p:cNvPicPr/>
          <p:nvPr/>
        </p:nvPicPr>
        <p:blipFill>
          <a:blip r:embed="rId3" cstate="print"/>
          <a:stretch>
            <a:fillRect/>
          </a:stretch>
        </p:blipFill>
        <p:spPr>
          <a:xfrm>
            <a:off x="864006" y="1068006"/>
            <a:ext cx="4835993" cy="1067993"/>
          </a:xfrm>
          <a:prstGeom prst="rect">
            <a:avLst/>
          </a:prstGeom>
        </p:spPr>
      </p:pic>
      <p:sp>
        <p:nvSpPr>
          <p:cNvPr id="7" name="object 5"/>
          <p:cNvSpPr txBox="1"/>
          <p:nvPr/>
        </p:nvSpPr>
        <p:spPr>
          <a:xfrm>
            <a:off x="2222500" y="1952625"/>
            <a:ext cx="4743450" cy="382156"/>
          </a:xfrm>
          <a:prstGeom prst="rect">
            <a:avLst/>
          </a:prstGeom>
        </p:spPr>
        <p:txBody>
          <a:bodyPr vert="horz" wrap="square" lIns="0" tIns="12700" rIns="0" bIns="0" rtlCol="0">
            <a:spAutoFit/>
          </a:bodyPr>
          <a:lstStyle/>
          <a:p>
            <a:pPr algn="l"/>
            <a:r>
              <a:rPr lang="en-US" dirty="0" smtClean="0">
                <a:solidFill>
                  <a:schemeClr val="tx1"/>
                </a:solidFill>
                <a:latin typeface="Lucida Calligraphy" pitchFamily="66" charset="0"/>
                <a:cs typeface="Leelawadee UI Semilight" pitchFamily="34" charset="-34"/>
              </a:rPr>
              <a:t>Home Delivery Service</a:t>
            </a:r>
            <a:endParaRPr lang="en-US" sz="2400" dirty="0" smtClean="0">
              <a:solidFill>
                <a:schemeClr val="tx1"/>
              </a:solidFill>
              <a:latin typeface="Lucida Calligraphy" pitchFamily="66" charset="0"/>
              <a:cs typeface="Leelawadee UI Semilight" pitchFamily="34" charset="-34"/>
            </a:endParaRPr>
          </a:p>
        </p:txBody>
      </p:sp>
      <p:sp>
        <p:nvSpPr>
          <p:cNvPr id="9" name="TextBox 8"/>
          <p:cNvSpPr txBox="1"/>
          <p:nvPr/>
        </p:nvSpPr>
        <p:spPr>
          <a:xfrm>
            <a:off x="4356100" y="592693"/>
            <a:ext cx="1390124" cy="369332"/>
          </a:xfrm>
          <a:prstGeom prst="rect">
            <a:avLst/>
          </a:prstGeom>
          <a:noFill/>
        </p:spPr>
        <p:txBody>
          <a:bodyPr wrap="none" rtlCol="0">
            <a:spAutoFit/>
          </a:bodyPr>
          <a:lstStyle/>
          <a:p>
            <a:r>
              <a:rPr lang="en-US" b="1" u="sng" dirty="0" smtClean="0">
                <a:solidFill>
                  <a:srgbClr val="FF0000"/>
                </a:solidFill>
              </a:rPr>
              <a:t>Front Page</a:t>
            </a:r>
            <a:endParaRPr lang="en-GB" b="1" u="sng"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38430">
              <a:lnSpc>
                <a:spcPts val="2625"/>
              </a:lnSpc>
            </a:pPr>
            <a:fld id="{81D60167-4931-47E6-BA6A-407CBD079E47}" type="slidenum">
              <a:rPr spc="-50" dirty="0"/>
              <a:t>3</a:t>
            </a:fld>
            <a:endParaRPr spc="-50" dirty="0"/>
          </a:p>
        </p:txBody>
      </p:sp>
      <p:sp>
        <p:nvSpPr>
          <p:cNvPr id="2" name="object 2"/>
          <p:cNvSpPr txBox="1">
            <a:spLocks noGrp="1"/>
          </p:cNvSpPr>
          <p:nvPr>
            <p:ph type="body" idx="1"/>
          </p:nvPr>
        </p:nvSpPr>
        <p:spPr>
          <a:prstGeom prst="rect">
            <a:avLst/>
          </a:prstGeom>
        </p:spPr>
        <p:txBody>
          <a:bodyPr vert="horz" wrap="square" lIns="0" tIns="12700" rIns="0" bIns="0" rtlCol="0">
            <a:spAutoFit/>
          </a:bodyPr>
          <a:lstStyle/>
          <a:p>
            <a:pPr marL="13970" marR="5080" algn="ctr">
              <a:lnSpc>
                <a:spcPct val="100000"/>
              </a:lnSpc>
              <a:spcBef>
                <a:spcPts val="100"/>
              </a:spcBef>
            </a:pPr>
            <a:r>
              <a:rPr spc="-120" dirty="0"/>
              <a:t>KLOUDROP</a:t>
            </a:r>
            <a:r>
              <a:rPr spc="-35" dirty="0"/>
              <a:t> </a:t>
            </a:r>
            <a:r>
              <a:rPr dirty="0"/>
              <a:t>is</a:t>
            </a:r>
            <a:r>
              <a:rPr spc="-35" dirty="0"/>
              <a:t> </a:t>
            </a:r>
            <a:r>
              <a:rPr spc="229" dirty="0"/>
              <a:t>a</a:t>
            </a:r>
            <a:r>
              <a:rPr spc="-35" dirty="0"/>
              <a:t> </a:t>
            </a:r>
            <a:r>
              <a:rPr dirty="0"/>
              <a:t>market</a:t>
            </a:r>
            <a:r>
              <a:rPr spc="-35" dirty="0"/>
              <a:t> </a:t>
            </a:r>
            <a:r>
              <a:rPr spc="145" dirty="0"/>
              <a:t>place</a:t>
            </a:r>
            <a:r>
              <a:rPr spc="-35" dirty="0"/>
              <a:t> </a:t>
            </a:r>
            <a:r>
              <a:rPr spc="-10" dirty="0"/>
              <a:t>where </a:t>
            </a:r>
            <a:r>
              <a:rPr dirty="0"/>
              <a:t>you</a:t>
            </a:r>
            <a:r>
              <a:rPr spc="-45" dirty="0"/>
              <a:t> </a:t>
            </a:r>
            <a:r>
              <a:rPr spc="175" dirty="0"/>
              <a:t>can</a:t>
            </a:r>
            <a:r>
              <a:rPr spc="-40" dirty="0"/>
              <a:t> </a:t>
            </a:r>
            <a:r>
              <a:rPr dirty="0"/>
              <a:t>order</a:t>
            </a:r>
            <a:r>
              <a:rPr spc="-40" dirty="0"/>
              <a:t> </a:t>
            </a:r>
            <a:r>
              <a:rPr spc="70" dirty="0"/>
              <a:t>ethnic</a:t>
            </a:r>
            <a:r>
              <a:rPr spc="-40" dirty="0"/>
              <a:t> </a:t>
            </a:r>
            <a:r>
              <a:rPr spc="55" dirty="0"/>
              <a:t>grocery</a:t>
            </a:r>
            <a:r>
              <a:rPr spc="-40" dirty="0"/>
              <a:t> </a:t>
            </a:r>
            <a:r>
              <a:rPr spc="-20" dirty="0"/>
              <a:t>from </a:t>
            </a:r>
            <a:r>
              <a:rPr spc="55" dirty="0"/>
              <a:t>multiple</a:t>
            </a:r>
            <a:r>
              <a:rPr spc="-75" dirty="0"/>
              <a:t> </a:t>
            </a:r>
            <a:r>
              <a:rPr spc="70" dirty="0" smtClean="0"/>
              <a:t>hyper</a:t>
            </a:r>
            <a:r>
              <a:rPr lang="en-US" spc="70" dirty="0" smtClean="0"/>
              <a:t>/</a:t>
            </a:r>
            <a:r>
              <a:rPr spc="70" dirty="0" smtClean="0"/>
              <a:t>local</a:t>
            </a:r>
            <a:r>
              <a:rPr spc="-70" dirty="0" smtClean="0"/>
              <a:t> </a:t>
            </a:r>
            <a:r>
              <a:rPr spc="-10" dirty="0"/>
              <a:t>stores.</a:t>
            </a:r>
          </a:p>
          <a:p>
            <a:pPr marL="1905" algn="ctr">
              <a:lnSpc>
                <a:spcPct val="100000"/>
              </a:lnSpc>
              <a:spcBef>
                <a:spcPts val="3600"/>
              </a:spcBef>
            </a:pPr>
            <a:r>
              <a:rPr dirty="0"/>
              <a:t>We</a:t>
            </a:r>
            <a:r>
              <a:rPr spc="-140" dirty="0"/>
              <a:t> </a:t>
            </a:r>
            <a:r>
              <a:rPr dirty="0"/>
              <a:t>collect,</a:t>
            </a:r>
            <a:r>
              <a:rPr spc="-140" dirty="0"/>
              <a:t> </a:t>
            </a:r>
            <a:r>
              <a:rPr spc="60" dirty="0"/>
              <a:t>consolidate</a:t>
            </a:r>
            <a:r>
              <a:rPr spc="-135" dirty="0"/>
              <a:t> </a:t>
            </a:r>
            <a:r>
              <a:rPr spc="130" dirty="0"/>
              <a:t>and</a:t>
            </a:r>
            <a:r>
              <a:rPr spc="-140" dirty="0"/>
              <a:t> </a:t>
            </a:r>
            <a:r>
              <a:rPr spc="-10" dirty="0"/>
              <a:t>deliver.</a:t>
            </a:r>
          </a:p>
        </p:txBody>
      </p:sp>
      <p:sp>
        <p:nvSpPr>
          <p:cNvPr id="3" name="object 3"/>
          <p:cNvSpPr txBox="1">
            <a:spLocks noGrp="1"/>
          </p:cNvSpPr>
          <p:nvPr>
            <p:ph type="title"/>
          </p:nvPr>
        </p:nvSpPr>
        <p:spPr>
          <a:xfrm>
            <a:off x="599300" y="449651"/>
            <a:ext cx="2809875" cy="756920"/>
          </a:xfrm>
          <a:prstGeom prst="rect">
            <a:avLst/>
          </a:prstGeom>
        </p:spPr>
        <p:txBody>
          <a:bodyPr vert="horz" wrap="square" lIns="0" tIns="12700" rIns="0" bIns="0" rtlCol="0">
            <a:spAutoFit/>
          </a:bodyPr>
          <a:lstStyle/>
          <a:p>
            <a:pPr marL="12700">
              <a:lnSpc>
                <a:spcPct val="100000"/>
              </a:lnSpc>
              <a:spcBef>
                <a:spcPts val="100"/>
              </a:spcBef>
            </a:pPr>
            <a:r>
              <a:rPr spc="390" dirty="0"/>
              <a:t>about</a:t>
            </a:r>
            <a:r>
              <a:rPr spc="-190" dirty="0"/>
              <a:t> </a:t>
            </a:r>
            <a:r>
              <a:rPr spc="459" dirty="0"/>
              <a:t>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Kloudrop</a:t>
            </a:r>
            <a:r>
              <a:rPr lang="en-US" dirty="0" smtClean="0"/>
              <a:t> Idea</a:t>
            </a:r>
            <a:endParaRPr lang="en-GB" dirty="0"/>
          </a:p>
        </p:txBody>
      </p:sp>
      <p:sp>
        <p:nvSpPr>
          <p:cNvPr id="4" name="Subtitle 4"/>
          <p:cNvSpPr txBox="1">
            <a:spLocks/>
          </p:cNvSpPr>
          <p:nvPr/>
        </p:nvSpPr>
        <p:spPr>
          <a:xfrm>
            <a:off x="461818" y="1952625"/>
            <a:ext cx="9829800" cy="4616648"/>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3000" dirty="0" smtClean="0">
                <a:latin typeface="+mj-lt"/>
              </a:rPr>
              <a:t>Most people today want fast, reliable, and affordable home delivery—whether it's groceries, meals, or essentials. But traditional delivery services can be slow, expensive, or limited in coverage. At </a:t>
            </a:r>
            <a:r>
              <a:rPr lang="en-US" sz="3000" dirty="0" err="1" smtClean="0">
                <a:latin typeface="+mj-lt"/>
              </a:rPr>
              <a:t>Kloudrop</a:t>
            </a:r>
            <a:r>
              <a:rPr lang="en-US" sz="3000" dirty="0" smtClean="0">
                <a:latin typeface="+mj-lt"/>
              </a:rPr>
              <a:t>, we’ve made it easy. Our marketplace lets you order ethnic groceries from multiple hyper, local stores all in one place. We collect, consolidate, and deliver everything to your doorstep, saving you time and hassle. With </a:t>
            </a:r>
            <a:r>
              <a:rPr lang="en-US" sz="3000" dirty="0" err="1" smtClean="0">
                <a:latin typeface="+mj-lt"/>
              </a:rPr>
              <a:t>Kloudrop</a:t>
            </a:r>
            <a:r>
              <a:rPr lang="en-US" sz="3000" dirty="0" smtClean="0">
                <a:latin typeface="+mj-lt"/>
              </a:rPr>
              <a:t>, you get access to a wide range of authentic products, all delivered quickly and conveniently, without the need to visit each store separately.</a:t>
            </a:r>
            <a:endParaRPr lang="en-GB" sz="3000" dirty="0">
              <a:latin typeface="+mj-lt"/>
            </a:endParaRPr>
          </a:p>
        </p:txBody>
      </p:sp>
    </p:spTree>
    <p:extLst>
      <p:ext uri="{BB962C8B-B14F-4D97-AF65-F5344CB8AC3E}">
        <p14:creationId xmlns:p14="http://schemas.microsoft.com/office/powerpoint/2010/main" val="1757826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4662" y="359777"/>
            <a:ext cx="9125437" cy="1231106"/>
          </a:xfrm>
        </p:spPr>
        <p:txBody>
          <a:bodyPr/>
          <a:lstStyle/>
          <a:p>
            <a:r>
              <a:rPr lang="en-US" spc="390" dirty="0" err="1">
                <a:latin typeface="+mj-lt"/>
              </a:rPr>
              <a:t>Kloudrop</a:t>
            </a:r>
            <a:r>
              <a:rPr lang="en-US" spc="390" dirty="0">
                <a:latin typeface="+mj-lt"/>
              </a:rPr>
              <a:t> Business </a:t>
            </a:r>
            <a:r>
              <a:rPr lang="en-US" dirty="0" smtClean="0"/>
              <a:t/>
            </a:r>
            <a:br>
              <a:rPr lang="en-US" dirty="0" smtClean="0"/>
            </a:br>
            <a:r>
              <a:rPr lang="en-US" sz="3200" b="0" dirty="0" smtClean="0"/>
              <a:t>(Product Operations/Functions)</a:t>
            </a:r>
            <a:endParaRPr lang="en-GB" b="0" dirty="0"/>
          </a:p>
        </p:txBody>
      </p:sp>
      <p:sp>
        <p:nvSpPr>
          <p:cNvPr id="3" name="Text Placeholder 2"/>
          <p:cNvSpPr>
            <a:spLocks noGrp="1"/>
          </p:cNvSpPr>
          <p:nvPr>
            <p:ph type="body" idx="1"/>
          </p:nvPr>
        </p:nvSpPr>
        <p:spPr>
          <a:xfrm>
            <a:off x="469900" y="1647825"/>
            <a:ext cx="9829800" cy="5915025"/>
          </a:xfrm>
        </p:spPr>
        <p:txBody>
          <a:bodyPr/>
          <a:lstStyle/>
          <a:p>
            <a:pPr>
              <a:lnSpc>
                <a:spcPct val="114000"/>
              </a:lnSpc>
              <a:spcAft>
                <a:spcPts val="600"/>
              </a:spcAft>
            </a:pPr>
            <a:r>
              <a:rPr lang="en-US" sz="2400" b="1" i="0" dirty="0">
                <a:latin typeface="+mj-lt"/>
              </a:rPr>
              <a:t>App/Web Platform:</a:t>
            </a:r>
            <a:r>
              <a:rPr lang="en-US" sz="2600" i="0" dirty="0">
                <a:latin typeface="+mj-lt"/>
              </a:rPr>
              <a:t> </a:t>
            </a:r>
            <a:r>
              <a:rPr lang="en-US" sz="2200" i="0" dirty="0">
                <a:latin typeface="+mj-lt"/>
              </a:rPr>
              <a:t>User-friendly interface for ordering groceries, meals, and essentials from local stores.</a:t>
            </a:r>
          </a:p>
          <a:p>
            <a:pPr>
              <a:lnSpc>
                <a:spcPct val="114000"/>
              </a:lnSpc>
              <a:spcAft>
                <a:spcPts val="600"/>
              </a:spcAft>
            </a:pPr>
            <a:r>
              <a:rPr lang="en-US" sz="2200" b="1" i="0" dirty="0">
                <a:latin typeface="+mj-lt"/>
              </a:rPr>
              <a:t>Smart Search &amp; Discovery:</a:t>
            </a:r>
            <a:r>
              <a:rPr lang="en-US" sz="2200" i="0" dirty="0">
                <a:latin typeface="+mj-lt"/>
              </a:rPr>
              <a:t> AI-powered recommendations for ethnic foods, trending products, and nearby vendors.</a:t>
            </a:r>
          </a:p>
          <a:p>
            <a:pPr>
              <a:lnSpc>
                <a:spcPct val="114000"/>
              </a:lnSpc>
              <a:spcAft>
                <a:spcPts val="600"/>
              </a:spcAft>
            </a:pPr>
            <a:r>
              <a:rPr lang="en-US" sz="2200" b="1" i="0" dirty="0">
                <a:latin typeface="+mj-lt"/>
              </a:rPr>
              <a:t>Real-Time Tracking:</a:t>
            </a:r>
            <a:r>
              <a:rPr lang="en-US" sz="2200" i="0" dirty="0">
                <a:latin typeface="+mj-lt"/>
              </a:rPr>
              <a:t> Live GPS updates for orders, estimated delivery times, and courier communication.</a:t>
            </a:r>
          </a:p>
          <a:p>
            <a:pPr>
              <a:lnSpc>
                <a:spcPct val="114000"/>
              </a:lnSpc>
              <a:spcAft>
                <a:spcPts val="600"/>
              </a:spcAft>
            </a:pPr>
            <a:r>
              <a:rPr lang="en-US" sz="2200" b="1" i="0" dirty="0">
                <a:latin typeface="+mj-lt"/>
              </a:rPr>
              <a:t>Flexible Delivery Options:</a:t>
            </a:r>
            <a:r>
              <a:rPr lang="en-US" sz="2200" i="0" dirty="0">
                <a:latin typeface="+mj-lt"/>
              </a:rPr>
              <a:t> Scheduled or instant delivery (e.g., 30-minute express, same-day).</a:t>
            </a:r>
          </a:p>
          <a:p>
            <a:pPr>
              <a:lnSpc>
                <a:spcPct val="114000"/>
              </a:lnSpc>
              <a:spcAft>
                <a:spcPts val="600"/>
              </a:spcAft>
            </a:pPr>
            <a:r>
              <a:rPr lang="en-US" sz="2200" b="1" i="0" dirty="0">
                <a:latin typeface="+mj-lt"/>
              </a:rPr>
              <a:t>Loyalty Programs:</a:t>
            </a:r>
            <a:r>
              <a:rPr lang="en-US" sz="2200" i="0" dirty="0">
                <a:latin typeface="+mj-lt"/>
              </a:rPr>
              <a:t> Discounts for frequent users or referrals</a:t>
            </a:r>
            <a:r>
              <a:rPr lang="en-US" sz="2200" i="0" dirty="0" smtClean="0">
                <a:latin typeface="+mj-lt"/>
              </a:rPr>
              <a:t>.</a:t>
            </a:r>
          </a:p>
          <a:p>
            <a:pPr>
              <a:lnSpc>
                <a:spcPct val="114000"/>
              </a:lnSpc>
              <a:spcAft>
                <a:spcPts val="600"/>
              </a:spcAft>
            </a:pPr>
            <a:r>
              <a:rPr lang="en-US" sz="2200" b="1" i="0" dirty="0">
                <a:latin typeface="+mj-lt"/>
              </a:rPr>
              <a:t>Vendor Onboarding:</a:t>
            </a:r>
            <a:r>
              <a:rPr lang="en-US" sz="2200" i="0" dirty="0">
                <a:latin typeface="+mj-lt"/>
              </a:rPr>
              <a:t> Seamless sign-up for local ethnic markets, grocery stores, and restaurants.</a:t>
            </a:r>
          </a:p>
          <a:p>
            <a:r>
              <a:rPr lang="en-US" sz="2200" b="1" i="0" dirty="0">
                <a:latin typeface="+mj-lt"/>
              </a:rPr>
              <a:t>Analytics Dashboard:</a:t>
            </a:r>
            <a:r>
              <a:rPr lang="en-US" sz="2000" i="0" dirty="0">
                <a:latin typeface="+mj-lt"/>
              </a:rPr>
              <a:t> </a:t>
            </a:r>
            <a:r>
              <a:rPr lang="en-US" sz="2200" i="0" dirty="0">
                <a:latin typeface="+mj-lt"/>
              </a:rPr>
              <a:t>Sales performance, customer demographics, and demand forecasting.</a:t>
            </a:r>
          </a:p>
          <a:p>
            <a:r>
              <a:rPr lang="en-US" sz="2200" b="1" i="0" dirty="0">
                <a:latin typeface="+mj-lt"/>
              </a:rPr>
              <a:t>Dynamic Pricing &amp; Promotions:</a:t>
            </a:r>
            <a:r>
              <a:rPr lang="en-US" sz="2200" i="0" dirty="0">
                <a:latin typeface="+mj-lt"/>
              </a:rPr>
              <a:t> Tools for merchants to run flash sales or bundle deals.</a:t>
            </a:r>
          </a:p>
          <a:p>
            <a:r>
              <a:rPr lang="en-US" sz="2400" dirty="0">
                <a:latin typeface="+mj-lt"/>
              </a:rPr>
              <a:t/>
            </a:r>
            <a:br>
              <a:rPr lang="en-US" sz="2400" dirty="0">
                <a:latin typeface="+mj-lt"/>
              </a:rPr>
            </a:br>
            <a:r>
              <a:rPr lang="en-US" sz="2400" dirty="0"/>
              <a:t/>
            </a:r>
            <a:br>
              <a:rPr lang="en-US" sz="2400" dirty="0"/>
            </a:br>
            <a:endParaRPr lang="en-US" sz="2200" i="0" dirty="0"/>
          </a:p>
          <a:p>
            <a:endParaRPr lang="en-GB" sz="2400" dirty="0"/>
          </a:p>
        </p:txBody>
      </p:sp>
    </p:spTree>
    <p:extLst>
      <p:ext uri="{BB962C8B-B14F-4D97-AF65-F5344CB8AC3E}">
        <p14:creationId xmlns:p14="http://schemas.microsoft.com/office/powerpoint/2010/main" val="2643974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46100" y="2409825"/>
            <a:ext cx="9372600" cy="4096891"/>
          </a:xfrm>
        </p:spPr>
        <p:txBody>
          <a:bodyPr/>
          <a:lstStyle/>
          <a:p>
            <a:pPr>
              <a:lnSpc>
                <a:spcPct val="114000"/>
              </a:lnSpc>
              <a:spcAft>
                <a:spcPts val="600"/>
              </a:spcAft>
            </a:pPr>
            <a:r>
              <a:rPr lang="en-US" sz="2400" dirty="0"/>
              <a:t>(Product </a:t>
            </a:r>
            <a:r>
              <a:rPr lang="en-GB" sz="2400" dirty="0"/>
              <a:t>Courier (Delivery Fleet) Management</a:t>
            </a:r>
            <a:r>
              <a:rPr lang="en-US" sz="2400" dirty="0"/>
              <a:t>)</a:t>
            </a:r>
            <a:endParaRPr lang="en-GB" sz="2400" b="1" i="0" dirty="0" smtClean="0">
              <a:latin typeface="+mj-lt"/>
            </a:endParaRPr>
          </a:p>
          <a:p>
            <a:pPr>
              <a:lnSpc>
                <a:spcPct val="114000"/>
              </a:lnSpc>
              <a:spcAft>
                <a:spcPts val="600"/>
              </a:spcAft>
            </a:pPr>
            <a:r>
              <a:rPr lang="en-GB" sz="2400" b="1" i="0" dirty="0" smtClean="0">
                <a:latin typeface="+mj-lt"/>
              </a:rPr>
              <a:t>Gig-Based </a:t>
            </a:r>
            <a:r>
              <a:rPr lang="en-GB" sz="2400" b="1" i="0" dirty="0">
                <a:latin typeface="+mj-lt"/>
              </a:rPr>
              <a:t>Driver Network:</a:t>
            </a:r>
            <a:r>
              <a:rPr lang="en-GB" sz="2400" i="0" dirty="0">
                <a:latin typeface="+mj-lt"/>
              </a:rPr>
              <a:t> Independent couriers sign up via an app, with background checks for safety.</a:t>
            </a:r>
          </a:p>
          <a:p>
            <a:pPr>
              <a:lnSpc>
                <a:spcPct val="114000"/>
              </a:lnSpc>
              <a:spcAft>
                <a:spcPts val="600"/>
              </a:spcAft>
            </a:pPr>
            <a:r>
              <a:rPr lang="en-GB" sz="2400" b="1" i="0" dirty="0">
                <a:latin typeface="+mj-lt"/>
              </a:rPr>
              <a:t>Route Optimization:</a:t>
            </a:r>
            <a:r>
              <a:rPr lang="en-GB" sz="2400" i="0" dirty="0">
                <a:latin typeface="+mj-lt"/>
              </a:rPr>
              <a:t> AI-driven logistics to minimize delivery time and fuel costs.</a:t>
            </a:r>
          </a:p>
          <a:p>
            <a:pPr>
              <a:lnSpc>
                <a:spcPct val="114000"/>
              </a:lnSpc>
              <a:spcAft>
                <a:spcPts val="600"/>
              </a:spcAft>
            </a:pPr>
            <a:r>
              <a:rPr lang="en-GB" sz="2400" b="1" i="0" dirty="0">
                <a:latin typeface="+mj-lt"/>
              </a:rPr>
              <a:t>Earnings &amp; Incentives:</a:t>
            </a:r>
            <a:r>
              <a:rPr lang="en-GB" sz="2400" i="0" dirty="0">
                <a:latin typeface="+mj-lt"/>
              </a:rPr>
              <a:t> Transparent pay structure (per delivery + tips) and surge pricing during peak demand.</a:t>
            </a:r>
          </a:p>
          <a:p>
            <a:pPr>
              <a:lnSpc>
                <a:spcPct val="114000"/>
              </a:lnSpc>
              <a:spcAft>
                <a:spcPts val="600"/>
              </a:spcAft>
            </a:pPr>
            <a:r>
              <a:rPr lang="en-GB" sz="2400" b="1" i="0" dirty="0">
                <a:latin typeface="+mj-lt"/>
              </a:rPr>
              <a:t>Training &amp; Support:</a:t>
            </a:r>
            <a:r>
              <a:rPr lang="en-GB" sz="2400" i="0" dirty="0">
                <a:latin typeface="+mj-lt"/>
              </a:rPr>
              <a:t> Guidelines for handling ethnic groceries (e.g., temperature-sensitive items</a:t>
            </a:r>
            <a:r>
              <a:rPr lang="en-GB" sz="2400" i="0" dirty="0" smtClean="0">
                <a:latin typeface="+mj-lt"/>
              </a:rPr>
              <a:t>).</a:t>
            </a:r>
            <a:endParaRPr lang="en-GB" sz="2400" i="0" dirty="0">
              <a:latin typeface="+mj-lt"/>
            </a:endParaRPr>
          </a:p>
        </p:txBody>
      </p:sp>
      <p:sp>
        <p:nvSpPr>
          <p:cNvPr id="4" name="Title 1"/>
          <p:cNvSpPr>
            <a:spLocks noGrp="1"/>
          </p:cNvSpPr>
          <p:nvPr>
            <p:ph type="title"/>
          </p:nvPr>
        </p:nvSpPr>
        <p:spPr>
          <a:xfrm>
            <a:off x="546100" y="352425"/>
            <a:ext cx="9125437" cy="1231106"/>
          </a:xfrm>
        </p:spPr>
        <p:txBody>
          <a:bodyPr/>
          <a:lstStyle/>
          <a:p>
            <a:r>
              <a:rPr lang="en-US" spc="390" dirty="0" err="1">
                <a:latin typeface="+mj-lt"/>
              </a:rPr>
              <a:t>Kloudrop</a:t>
            </a:r>
            <a:r>
              <a:rPr lang="en-US" spc="390" dirty="0">
                <a:latin typeface="+mj-lt"/>
              </a:rPr>
              <a:t> Business </a:t>
            </a:r>
            <a:r>
              <a:rPr lang="en-US" dirty="0" smtClean="0"/>
              <a:t/>
            </a:r>
            <a:br>
              <a:rPr lang="en-US" dirty="0" smtClean="0"/>
            </a:br>
            <a:r>
              <a:rPr lang="en-US" sz="3200" b="0" dirty="0"/>
              <a:t>(Product Operations/Functions</a:t>
            </a:r>
            <a:r>
              <a:rPr lang="en-US" sz="3200" b="0" dirty="0" smtClean="0"/>
              <a:t>)</a:t>
            </a:r>
            <a:endParaRPr lang="en-GB" b="0" dirty="0"/>
          </a:p>
        </p:txBody>
      </p:sp>
    </p:spTree>
    <p:extLst>
      <p:ext uri="{BB962C8B-B14F-4D97-AF65-F5344CB8AC3E}">
        <p14:creationId xmlns:p14="http://schemas.microsoft.com/office/powerpoint/2010/main" val="2689122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4663" y="359777"/>
            <a:ext cx="7328534" cy="1231106"/>
          </a:xfrm>
        </p:spPr>
        <p:txBody>
          <a:bodyPr/>
          <a:lstStyle/>
          <a:p>
            <a:r>
              <a:rPr lang="en-US" spc="390" dirty="0" err="1"/>
              <a:t>Kloudrop</a:t>
            </a:r>
            <a:r>
              <a:rPr lang="en-US" spc="390" dirty="0"/>
              <a:t> </a:t>
            </a:r>
            <a:r>
              <a:rPr lang="en-US" spc="390" dirty="0" smtClean="0"/>
              <a:t>Business</a:t>
            </a:r>
            <a:br>
              <a:rPr lang="en-US" spc="390" dirty="0" smtClean="0"/>
            </a:br>
            <a:r>
              <a:rPr lang="en-US" sz="3200" b="0" dirty="0"/>
              <a:t>(Product Operations/Functions)</a:t>
            </a:r>
            <a:endParaRPr lang="en-GB" sz="3200" b="0" dirty="0"/>
          </a:p>
        </p:txBody>
      </p:sp>
      <p:sp>
        <p:nvSpPr>
          <p:cNvPr id="3" name="Text Placeholder 2"/>
          <p:cNvSpPr>
            <a:spLocks noGrp="1"/>
          </p:cNvSpPr>
          <p:nvPr>
            <p:ph type="body" idx="1"/>
          </p:nvPr>
        </p:nvSpPr>
        <p:spPr>
          <a:xfrm>
            <a:off x="546100" y="2333625"/>
            <a:ext cx="9448800" cy="4635500"/>
          </a:xfrm>
        </p:spPr>
        <p:txBody>
          <a:bodyPr/>
          <a:lstStyle/>
          <a:p>
            <a:pPr>
              <a:lnSpc>
                <a:spcPct val="114000"/>
              </a:lnSpc>
              <a:spcAft>
                <a:spcPts val="600"/>
              </a:spcAft>
            </a:pPr>
            <a:r>
              <a:rPr lang="en-GB" sz="2400" dirty="0"/>
              <a:t>(Technology &amp; Logistics</a:t>
            </a:r>
            <a:r>
              <a:rPr lang="en-GB" sz="2400" dirty="0" smtClean="0"/>
              <a:t>)</a:t>
            </a:r>
            <a:endParaRPr lang="en-US" sz="2400" b="1" i="0" dirty="0" smtClean="0">
              <a:latin typeface="+mj-lt"/>
            </a:endParaRPr>
          </a:p>
          <a:p>
            <a:pPr>
              <a:lnSpc>
                <a:spcPct val="114000"/>
              </a:lnSpc>
              <a:spcAft>
                <a:spcPts val="600"/>
              </a:spcAft>
            </a:pPr>
            <a:r>
              <a:rPr lang="en-US" sz="2400" b="1" i="0" dirty="0" smtClean="0">
                <a:latin typeface="+mj-lt"/>
              </a:rPr>
              <a:t>Matching </a:t>
            </a:r>
            <a:r>
              <a:rPr lang="en-US" sz="2400" b="1" i="0" dirty="0">
                <a:latin typeface="+mj-lt"/>
              </a:rPr>
              <a:t>Algorithm:</a:t>
            </a:r>
            <a:r>
              <a:rPr lang="en-US" sz="2400" i="0" dirty="0">
                <a:latin typeface="+mj-lt"/>
              </a:rPr>
              <a:t> Automatically pairs orders with the nearest available courier.</a:t>
            </a:r>
          </a:p>
          <a:p>
            <a:pPr>
              <a:lnSpc>
                <a:spcPct val="114000"/>
              </a:lnSpc>
              <a:spcAft>
                <a:spcPts val="600"/>
              </a:spcAft>
            </a:pPr>
            <a:r>
              <a:rPr lang="en-US" sz="2400" b="1" i="0" dirty="0">
                <a:latin typeface="+mj-lt"/>
              </a:rPr>
              <a:t>Smart Warehousing (Optional):</a:t>
            </a:r>
            <a:r>
              <a:rPr lang="en-US" sz="2400" i="0" dirty="0">
                <a:latin typeface="+mj-lt"/>
              </a:rPr>
              <a:t> Micro-fulfillment hubs for high-demand ethnic products.</a:t>
            </a:r>
          </a:p>
          <a:p>
            <a:pPr>
              <a:lnSpc>
                <a:spcPct val="114000"/>
              </a:lnSpc>
              <a:spcAft>
                <a:spcPts val="600"/>
              </a:spcAft>
            </a:pPr>
            <a:r>
              <a:rPr lang="en-US" sz="2400" b="1" i="0" dirty="0">
                <a:latin typeface="+mj-lt"/>
              </a:rPr>
              <a:t>Multi-Language Support:</a:t>
            </a:r>
            <a:r>
              <a:rPr lang="en-US" sz="2400" i="0" dirty="0">
                <a:latin typeface="+mj-lt"/>
              </a:rPr>
              <a:t> Breaks barriers for non-English-speaking merchants/customers.</a:t>
            </a:r>
          </a:p>
          <a:p>
            <a:pPr>
              <a:lnSpc>
                <a:spcPct val="114000"/>
              </a:lnSpc>
              <a:spcAft>
                <a:spcPts val="600"/>
              </a:spcAft>
            </a:pPr>
            <a:r>
              <a:rPr lang="en-US" sz="2400" b="1" i="0" dirty="0">
                <a:latin typeface="+mj-lt"/>
              </a:rPr>
              <a:t>API Integrations:</a:t>
            </a:r>
            <a:r>
              <a:rPr lang="en-US" sz="2400" i="0" dirty="0">
                <a:latin typeface="+mj-lt"/>
              </a:rPr>
              <a:t> Partnerships with POS systems (e.g., Square, Toast) for smooth order sync.</a:t>
            </a:r>
          </a:p>
          <a:p>
            <a:endParaRPr lang="en-GB" dirty="0">
              <a:latin typeface="+mj-lt"/>
            </a:endParaRPr>
          </a:p>
        </p:txBody>
      </p:sp>
    </p:spTree>
    <p:extLst>
      <p:ext uri="{BB962C8B-B14F-4D97-AF65-F5344CB8AC3E}">
        <p14:creationId xmlns:p14="http://schemas.microsoft.com/office/powerpoint/2010/main" val="3621472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4662" y="359777"/>
            <a:ext cx="8973037" cy="1231106"/>
          </a:xfrm>
        </p:spPr>
        <p:txBody>
          <a:bodyPr/>
          <a:lstStyle/>
          <a:p>
            <a:r>
              <a:rPr lang="en-US" spc="390" dirty="0" err="1"/>
              <a:t>Kloudrop</a:t>
            </a:r>
            <a:r>
              <a:rPr lang="en-US" spc="390" dirty="0"/>
              <a:t> Business </a:t>
            </a:r>
            <a:r>
              <a:rPr lang="en-US" dirty="0"/>
              <a:t/>
            </a:r>
            <a:br>
              <a:rPr lang="en-US" dirty="0"/>
            </a:br>
            <a:r>
              <a:rPr lang="en-US" sz="3200" dirty="0"/>
              <a:t>(</a:t>
            </a:r>
            <a:r>
              <a:rPr lang="en-GB" sz="3200" dirty="0"/>
              <a:t>Revenue Model</a:t>
            </a:r>
            <a:r>
              <a:rPr lang="en-US" sz="3200" dirty="0"/>
              <a:t>)</a:t>
            </a:r>
            <a:endParaRPr lang="en-GB" sz="3200" dirty="0"/>
          </a:p>
        </p:txBody>
      </p:sp>
      <p:sp>
        <p:nvSpPr>
          <p:cNvPr id="3" name="Text Placeholder 2"/>
          <p:cNvSpPr>
            <a:spLocks noGrp="1"/>
          </p:cNvSpPr>
          <p:nvPr>
            <p:ph type="body" idx="1"/>
          </p:nvPr>
        </p:nvSpPr>
        <p:spPr>
          <a:xfrm>
            <a:off x="546100" y="2347069"/>
            <a:ext cx="9448800" cy="2874505"/>
          </a:xfrm>
        </p:spPr>
        <p:txBody>
          <a:bodyPr/>
          <a:lstStyle/>
          <a:p>
            <a:pPr>
              <a:lnSpc>
                <a:spcPct val="114000"/>
              </a:lnSpc>
              <a:spcAft>
                <a:spcPts val="600"/>
              </a:spcAft>
            </a:pPr>
            <a:r>
              <a:rPr lang="en-US" sz="2400" b="1" i="0" dirty="0">
                <a:latin typeface="+mj-lt"/>
              </a:rPr>
              <a:t>Commission Fees:</a:t>
            </a:r>
            <a:r>
              <a:rPr lang="en-US" sz="2400" i="0" dirty="0">
                <a:latin typeface="+mj-lt"/>
              </a:rPr>
              <a:t> 10–20% per transaction from merchants (lower than giants like </a:t>
            </a:r>
            <a:r>
              <a:rPr lang="en-US" sz="2400" i="0" dirty="0" err="1">
                <a:latin typeface="+mj-lt"/>
              </a:rPr>
              <a:t>Uber</a:t>
            </a:r>
            <a:r>
              <a:rPr lang="en-US" sz="2400" i="0" dirty="0">
                <a:latin typeface="+mj-lt"/>
              </a:rPr>
              <a:t> Eats).</a:t>
            </a:r>
          </a:p>
          <a:p>
            <a:pPr>
              <a:lnSpc>
                <a:spcPct val="114000"/>
              </a:lnSpc>
              <a:spcAft>
                <a:spcPts val="600"/>
              </a:spcAft>
            </a:pPr>
            <a:r>
              <a:rPr lang="en-US" sz="2400" b="1" i="0" dirty="0">
                <a:latin typeface="+mj-lt"/>
              </a:rPr>
              <a:t>Delivery Fees:</a:t>
            </a:r>
            <a:r>
              <a:rPr lang="en-US" sz="2400" i="0" dirty="0">
                <a:latin typeface="+mj-lt"/>
              </a:rPr>
              <a:t> Small customer fee (waived for subscriptions).</a:t>
            </a:r>
          </a:p>
          <a:p>
            <a:pPr>
              <a:lnSpc>
                <a:spcPct val="114000"/>
              </a:lnSpc>
              <a:spcAft>
                <a:spcPts val="600"/>
              </a:spcAft>
            </a:pPr>
            <a:r>
              <a:rPr lang="en-US" sz="2400" b="1" i="0" dirty="0">
                <a:latin typeface="+mj-lt"/>
              </a:rPr>
              <a:t>Subscription Plans:</a:t>
            </a:r>
            <a:r>
              <a:rPr lang="en-US" sz="2400" i="0" dirty="0">
                <a:latin typeface="+mj-lt"/>
              </a:rPr>
              <a:t> Monthly memberships for unlimited free deliveries.</a:t>
            </a:r>
          </a:p>
          <a:p>
            <a:pPr>
              <a:lnSpc>
                <a:spcPct val="114000"/>
              </a:lnSpc>
              <a:spcAft>
                <a:spcPts val="600"/>
              </a:spcAft>
            </a:pPr>
            <a:r>
              <a:rPr lang="en-US" sz="2400" b="1" i="0" dirty="0">
                <a:latin typeface="+mj-lt"/>
              </a:rPr>
              <a:t>Ads &amp; Promotions:</a:t>
            </a:r>
            <a:r>
              <a:rPr lang="en-US" sz="2400" i="0" dirty="0">
                <a:latin typeface="+mj-lt"/>
              </a:rPr>
              <a:t> Featured listings for local businesses.</a:t>
            </a:r>
          </a:p>
          <a:p>
            <a:endParaRPr lang="en-GB" dirty="0"/>
          </a:p>
        </p:txBody>
      </p:sp>
    </p:spTree>
    <p:extLst>
      <p:ext uri="{BB962C8B-B14F-4D97-AF65-F5344CB8AC3E}">
        <p14:creationId xmlns:p14="http://schemas.microsoft.com/office/powerpoint/2010/main" val="2948659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6100" y="352425"/>
            <a:ext cx="7328534" cy="1231106"/>
          </a:xfrm>
        </p:spPr>
        <p:txBody>
          <a:bodyPr/>
          <a:lstStyle/>
          <a:p>
            <a:r>
              <a:rPr lang="en-US" spc="390" dirty="0" err="1"/>
              <a:t>Kloudrop</a:t>
            </a:r>
            <a:r>
              <a:rPr lang="en-US" spc="390" dirty="0"/>
              <a:t> Business </a:t>
            </a:r>
            <a:r>
              <a:rPr lang="en-US" dirty="0"/>
              <a:t/>
            </a:r>
            <a:br>
              <a:rPr lang="en-US" dirty="0"/>
            </a:br>
            <a:r>
              <a:rPr lang="en-US" sz="3200" dirty="0"/>
              <a:t>(</a:t>
            </a:r>
            <a:r>
              <a:rPr lang="en-GB" sz="3200" dirty="0"/>
              <a:t>Market Expansion &amp; Growth)</a:t>
            </a:r>
          </a:p>
        </p:txBody>
      </p:sp>
      <p:sp>
        <p:nvSpPr>
          <p:cNvPr id="3" name="Text Placeholder 2"/>
          <p:cNvSpPr>
            <a:spLocks noGrp="1"/>
          </p:cNvSpPr>
          <p:nvPr>
            <p:ph type="body" idx="1"/>
          </p:nvPr>
        </p:nvSpPr>
        <p:spPr>
          <a:xfrm>
            <a:off x="622300" y="2257425"/>
            <a:ext cx="9067800" cy="3218573"/>
          </a:xfrm>
        </p:spPr>
        <p:txBody>
          <a:bodyPr/>
          <a:lstStyle/>
          <a:p>
            <a:pPr>
              <a:lnSpc>
                <a:spcPct val="114000"/>
              </a:lnSpc>
              <a:spcAft>
                <a:spcPts val="600"/>
              </a:spcAft>
            </a:pPr>
            <a:r>
              <a:rPr lang="en-GB" sz="2400" b="1" i="0" dirty="0">
                <a:latin typeface="+mj-lt"/>
              </a:rPr>
              <a:t>Ethnic-First Strategy:</a:t>
            </a:r>
            <a:r>
              <a:rPr lang="en-GB" sz="2400" i="0" dirty="0">
                <a:latin typeface="+mj-lt"/>
              </a:rPr>
              <a:t> Focus on underserved communities (e.g., Hispanic, Asian, Halal markets).</a:t>
            </a:r>
          </a:p>
          <a:p>
            <a:pPr>
              <a:lnSpc>
                <a:spcPct val="114000"/>
              </a:lnSpc>
              <a:spcAft>
                <a:spcPts val="600"/>
              </a:spcAft>
            </a:pPr>
            <a:r>
              <a:rPr lang="en-GB" sz="2400" b="1" i="0" dirty="0">
                <a:latin typeface="+mj-lt"/>
              </a:rPr>
              <a:t>Partnerships:</a:t>
            </a:r>
            <a:r>
              <a:rPr lang="en-GB" sz="2400" i="0" dirty="0">
                <a:latin typeface="+mj-lt"/>
              </a:rPr>
              <a:t> Collaborate with cultural festivals, influencers, and immigrant associations.</a:t>
            </a:r>
          </a:p>
          <a:p>
            <a:pPr>
              <a:lnSpc>
                <a:spcPct val="114000"/>
              </a:lnSpc>
              <a:spcAft>
                <a:spcPts val="600"/>
              </a:spcAft>
            </a:pPr>
            <a:r>
              <a:rPr lang="en-GB" sz="2400" b="1" i="0" dirty="0">
                <a:latin typeface="+mj-lt"/>
              </a:rPr>
              <a:t>White-Label Solutions:</a:t>
            </a:r>
            <a:r>
              <a:rPr lang="en-GB" sz="2400" i="0" dirty="0">
                <a:latin typeface="+mj-lt"/>
              </a:rPr>
              <a:t> License </a:t>
            </a:r>
            <a:r>
              <a:rPr lang="en-GB" sz="2400" i="0" dirty="0" err="1">
                <a:latin typeface="+mj-lt"/>
              </a:rPr>
              <a:t>Kloudrop’s</a:t>
            </a:r>
            <a:r>
              <a:rPr lang="en-GB" sz="2400" i="0" dirty="0">
                <a:latin typeface="+mj-lt"/>
              </a:rPr>
              <a:t> tech to regional grocery chains.</a:t>
            </a:r>
          </a:p>
          <a:p>
            <a:endParaRPr lang="en-GB" dirty="0"/>
          </a:p>
        </p:txBody>
      </p:sp>
    </p:spTree>
    <p:extLst>
      <p:ext uri="{BB962C8B-B14F-4D97-AF65-F5344CB8AC3E}">
        <p14:creationId xmlns:p14="http://schemas.microsoft.com/office/powerpoint/2010/main" val="2596846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2"/>
            <a:ext cx="10679430" cy="7547609"/>
          </a:xfrm>
          <a:custGeom>
            <a:avLst/>
            <a:gdLst/>
            <a:ahLst/>
            <a:cxnLst/>
            <a:rect l="l" t="t" r="r" b="b"/>
            <a:pathLst>
              <a:path w="10679430" h="7547609">
                <a:moveTo>
                  <a:pt x="10679303" y="0"/>
                </a:moveTo>
                <a:lnTo>
                  <a:pt x="0" y="0"/>
                </a:lnTo>
                <a:lnTo>
                  <a:pt x="0" y="7547305"/>
                </a:lnTo>
                <a:lnTo>
                  <a:pt x="10679303" y="7547305"/>
                </a:lnTo>
                <a:lnTo>
                  <a:pt x="10679303" y="0"/>
                </a:lnTo>
                <a:close/>
              </a:path>
            </a:pathLst>
          </a:custGeom>
          <a:solidFill>
            <a:srgbClr val="DFEAE3"/>
          </a:solidFill>
        </p:spPr>
        <p:txBody>
          <a:bodyPr wrap="square" lIns="0" tIns="0" rIns="0" bIns="0" rtlCol="0"/>
          <a:lstStyle/>
          <a:p>
            <a:endParaRPr/>
          </a:p>
        </p:txBody>
      </p:sp>
      <p:sp>
        <p:nvSpPr>
          <p:cNvPr id="3" name="object 3"/>
          <p:cNvSpPr/>
          <p:nvPr/>
        </p:nvSpPr>
        <p:spPr>
          <a:xfrm>
            <a:off x="6930390" y="2941913"/>
            <a:ext cx="1235710" cy="1203960"/>
          </a:xfrm>
          <a:custGeom>
            <a:avLst/>
            <a:gdLst/>
            <a:ahLst/>
            <a:cxnLst/>
            <a:rect l="l" t="t" r="r" b="b"/>
            <a:pathLst>
              <a:path w="1235709" h="1203960">
                <a:moveTo>
                  <a:pt x="617816" y="0"/>
                </a:moveTo>
                <a:lnTo>
                  <a:pt x="569534" y="1810"/>
                </a:lnTo>
                <a:lnTo>
                  <a:pt x="522269" y="7154"/>
                </a:lnTo>
                <a:lnTo>
                  <a:pt x="476157" y="15897"/>
                </a:lnTo>
                <a:lnTo>
                  <a:pt x="431336" y="27905"/>
                </a:lnTo>
                <a:lnTo>
                  <a:pt x="387943" y="43044"/>
                </a:lnTo>
                <a:lnTo>
                  <a:pt x="346116" y="61180"/>
                </a:lnTo>
                <a:lnTo>
                  <a:pt x="305992" y="82180"/>
                </a:lnTo>
                <a:lnTo>
                  <a:pt x="267709" y="105909"/>
                </a:lnTo>
                <a:lnTo>
                  <a:pt x="231403" y="132235"/>
                </a:lnTo>
                <a:lnTo>
                  <a:pt x="197213" y="161022"/>
                </a:lnTo>
                <a:lnTo>
                  <a:pt x="165275" y="192138"/>
                </a:lnTo>
                <a:lnTo>
                  <a:pt x="135727" y="225448"/>
                </a:lnTo>
                <a:lnTo>
                  <a:pt x="108706" y="260819"/>
                </a:lnTo>
                <a:lnTo>
                  <a:pt x="84350" y="298116"/>
                </a:lnTo>
                <a:lnTo>
                  <a:pt x="62795" y="337207"/>
                </a:lnTo>
                <a:lnTo>
                  <a:pt x="44180" y="377956"/>
                </a:lnTo>
                <a:lnTo>
                  <a:pt x="28641" y="420230"/>
                </a:lnTo>
                <a:lnTo>
                  <a:pt x="16316" y="463896"/>
                </a:lnTo>
                <a:lnTo>
                  <a:pt x="7343" y="508820"/>
                </a:lnTo>
                <a:lnTo>
                  <a:pt x="1858" y="554866"/>
                </a:lnTo>
                <a:lnTo>
                  <a:pt x="0" y="601903"/>
                </a:lnTo>
                <a:lnTo>
                  <a:pt x="1858" y="648943"/>
                </a:lnTo>
                <a:lnTo>
                  <a:pt x="7343" y="694993"/>
                </a:lnTo>
                <a:lnTo>
                  <a:pt x="16316" y="739919"/>
                </a:lnTo>
                <a:lnTo>
                  <a:pt x="28641" y="783587"/>
                </a:lnTo>
                <a:lnTo>
                  <a:pt x="44180" y="825863"/>
                </a:lnTo>
                <a:lnTo>
                  <a:pt x="62795" y="866614"/>
                </a:lnTo>
                <a:lnTo>
                  <a:pt x="84350" y="905705"/>
                </a:lnTo>
                <a:lnTo>
                  <a:pt x="108706" y="943003"/>
                </a:lnTo>
                <a:lnTo>
                  <a:pt x="135727" y="978374"/>
                </a:lnTo>
                <a:lnTo>
                  <a:pt x="165275" y="1011684"/>
                </a:lnTo>
                <a:lnTo>
                  <a:pt x="197213" y="1042800"/>
                </a:lnTo>
                <a:lnTo>
                  <a:pt x="231403" y="1071587"/>
                </a:lnTo>
                <a:lnTo>
                  <a:pt x="267709" y="1097913"/>
                </a:lnTo>
                <a:lnTo>
                  <a:pt x="305992" y="1121642"/>
                </a:lnTo>
                <a:lnTo>
                  <a:pt x="346116" y="1142641"/>
                </a:lnTo>
                <a:lnTo>
                  <a:pt x="387943" y="1160777"/>
                </a:lnTo>
                <a:lnTo>
                  <a:pt x="431336" y="1175916"/>
                </a:lnTo>
                <a:lnTo>
                  <a:pt x="476157" y="1187923"/>
                </a:lnTo>
                <a:lnTo>
                  <a:pt x="522269" y="1196665"/>
                </a:lnTo>
                <a:lnTo>
                  <a:pt x="569534" y="1202009"/>
                </a:lnTo>
                <a:lnTo>
                  <a:pt x="617816" y="1203820"/>
                </a:lnTo>
                <a:lnTo>
                  <a:pt x="666098" y="1202009"/>
                </a:lnTo>
                <a:lnTo>
                  <a:pt x="713364" y="1196665"/>
                </a:lnTo>
                <a:lnTo>
                  <a:pt x="759476" y="1187923"/>
                </a:lnTo>
                <a:lnTo>
                  <a:pt x="804297" y="1175916"/>
                </a:lnTo>
                <a:lnTo>
                  <a:pt x="847690" y="1160777"/>
                </a:lnTo>
                <a:lnTo>
                  <a:pt x="889517" y="1142641"/>
                </a:lnTo>
                <a:lnTo>
                  <a:pt x="929640" y="1121642"/>
                </a:lnTo>
                <a:lnTo>
                  <a:pt x="967924" y="1097913"/>
                </a:lnTo>
                <a:lnTo>
                  <a:pt x="1004229" y="1071587"/>
                </a:lnTo>
                <a:lnTo>
                  <a:pt x="1038420" y="1042800"/>
                </a:lnTo>
                <a:lnTo>
                  <a:pt x="1070358" y="1011684"/>
                </a:lnTo>
                <a:lnTo>
                  <a:pt x="1099906" y="978374"/>
                </a:lnTo>
                <a:lnTo>
                  <a:pt x="1126927" y="943003"/>
                </a:lnTo>
                <a:lnTo>
                  <a:pt x="1151283" y="905705"/>
                </a:lnTo>
                <a:lnTo>
                  <a:pt x="1172838" y="866614"/>
                </a:lnTo>
                <a:lnTo>
                  <a:pt x="1191453" y="825863"/>
                </a:lnTo>
                <a:lnTo>
                  <a:pt x="1206992" y="783587"/>
                </a:lnTo>
                <a:lnTo>
                  <a:pt x="1219316" y="739919"/>
                </a:lnTo>
                <a:lnTo>
                  <a:pt x="1228290" y="694993"/>
                </a:lnTo>
                <a:lnTo>
                  <a:pt x="1233775" y="648943"/>
                </a:lnTo>
                <a:lnTo>
                  <a:pt x="1235633" y="601903"/>
                </a:lnTo>
                <a:lnTo>
                  <a:pt x="1233775" y="554866"/>
                </a:lnTo>
                <a:lnTo>
                  <a:pt x="1228290" y="508820"/>
                </a:lnTo>
                <a:lnTo>
                  <a:pt x="1219316" y="463896"/>
                </a:lnTo>
                <a:lnTo>
                  <a:pt x="1206992" y="420230"/>
                </a:lnTo>
                <a:lnTo>
                  <a:pt x="1191453" y="377956"/>
                </a:lnTo>
                <a:lnTo>
                  <a:pt x="1172838" y="337207"/>
                </a:lnTo>
                <a:lnTo>
                  <a:pt x="1151283" y="298116"/>
                </a:lnTo>
                <a:lnTo>
                  <a:pt x="1126927" y="260819"/>
                </a:lnTo>
                <a:lnTo>
                  <a:pt x="1099906" y="225448"/>
                </a:lnTo>
                <a:lnTo>
                  <a:pt x="1070358" y="192138"/>
                </a:lnTo>
                <a:lnTo>
                  <a:pt x="1038420" y="161022"/>
                </a:lnTo>
                <a:lnTo>
                  <a:pt x="1004229" y="132235"/>
                </a:lnTo>
                <a:lnTo>
                  <a:pt x="967924" y="105909"/>
                </a:lnTo>
                <a:lnTo>
                  <a:pt x="929640" y="82180"/>
                </a:lnTo>
                <a:lnTo>
                  <a:pt x="889517" y="61180"/>
                </a:lnTo>
                <a:lnTo>
                  <a:pt x="847690" y="43044"/>
                </a:lnTo>
                <a:lnTo>
                  <a:pt x="804297" y="27905"/>
                </a:lnTo>
                <a:lnTo>
                  <a:pt x="759476" y="15897"/>
                </a:lnTo>
                <a:lnTo>
                  <a:pt x="713364" y="7154"/>
                </a:lnTo>
                <a:lnTo>
                  <a:pt x="666098" y="1810"/>
                </a:lnTo>
                <a:lnTo>
                  <a:pt x="617816" y="0"/>
                </a:lnTo>
                <a:close/>
              </a:path>
            </a:pathLst>
          </a:custGeom>
          <a:solidFill>
            <a:srgbClr val="FFFFFF"/>
          </a:solidFill>
        </p:spPr>
        <p:txBody>
          <a:bodyPr wrap="square" lIns="0" tIns="0" rIns="0" bIns="0" rtlCol="0"/>
          <a:lstStyle/>
          <a:p>
            <a:r>
              <a:rPr lang="en-US" dirty="0" smtClean="0"/>
              <a:t>     </a:t>
            </a:r>
            <a:r>
              <a:rPr lang="en-US" dirty="0" err="1" smtClean="0"/>
              <a:t>Piture</a:t>
            </a:r>
            <a:endParaRPr dirty="0"/>
          </a:p>
        </p:txBody>
      </p:sp>
      <p:sp>
        <p:nvSpPr>
          <p:cNvPr id="5" name="object 5"/>
          <p:cNvSpPr/>
          <p:nvPr/>
        </p:nvSpPr>
        <p:spPr>
          <a:xfrm>
            <a:off x="2568479" y="2938593"/>
            <a:ext cx="1226185" cy="1194435"/>
          </a:xfrm>
          <a:custGeom>
            <a:avLst/>
            <a:gdLst/>
            <a:ahLst/>
            <a:cxnLst/>
            <a:rect l="l" t="t" r="r" b="b"/>
            <a:pathLst>
              <a:path w="1226185" h="1194435">
                <a:moveTo>
                  <a:pt x="612978" y="0"/>
                </a:moveTo>
                <a:lnTo>
                  <a:pt x="565073" y="1796"/>
                </a:lnTo>
                <a:lnTo>
                  <a:pt x="518177" y="7098"/>
                </a:lnTo>
                <a:lnTo>
                  <a:pt x="472426" y="15771"/>
                </a:lnTo>
                <a:lnTo>
                  <a:pt x="427955" y="27684"/>
                </a:lnTo>
                <a:lnTo>
                  <a:pt x="384902" y="42703"/>
                </a:lnTo>
                <a:lnTo>
                  <a:pt x="343403" y="60697"/>
                </a:lnTo>
                <a:lnTo>
                  <a:pt x="303593" y="81531"/>
                </a:lnTo>
                <a:lnTo>
                  <a:pt x="265610" y="105074"/>
                </a:lnTo>
                <a:lnTo>
                  <a:pt x="229589" y="131192"/>
                </a:lnTo>
                <a:lnTo>
                  <a:pt x="195666" y="159753"/>
                </a:lnTo>
                <a:lnTo>
                  <a:pt x="163979" y="190625"/>
                </a:lnTo>
                <a:lnTo>
                  <a:pt x="134662" y="223674"/>
                </a:lnTo>
                <a:lnTo>
                  <a:pt x="107853" y="258767"/>
                </a:lnTo>
                <a:lnTo>
                  <a:pt x="83688" y="295772"/>
                </a:lnTo>
                <a:lnTo>
                  <a:pt x="62302" y="334557"/>
                </a:lnTo>
                <a:lnTo>
                  <a:pt x="43833" y="374987"/>
                </a:lnTo>
                <a:lnTo>
                  <a:pt x="28416" y="416932"/>
                </a:lnTo>
                <a:lnTo>
                  <a:pt x="16188" y="460257"/>
                </a:lnTo>
                <a:lnTo>
                  <a:pt x="7285" y="504831"/>
                </a:lnTo>
                <a:lnTo>
                  <a:pt x="1844" y="550520"/>
                </a:lnTo>
                <a:lnTo>
                  <a:pt x="0" y="597192"/>
                </a:lnTo>
                <a:lnTo>
                  <a:pt x="1844" y="643862"/>
                </a:lnTo>
                <a:lnTo>
                  <a:pt x="7285" y="689549"/>
                </a:lnTo>
                <a:lnTo>
                  <a:pt x="16188" y="734122"/>
                </a:lnTo>
                <a:lnTo>
                  <a:pt x="28416" y="777447"/>
                </a:lnTo>
                <a:lnTo>
                  <a:pt x="43833" y="819391"/>
                </a:lnTo>
                <a:lnTo>
                  <a:pt x="62302" y="859821"/>
                </a:lnTo>
                <a:lnTo>
                  <a:pt x="83688" y="898605"/>
                </a:lnTo>
                <a:lnTo>
                  <a:pt x="107853" y="935611"/>
                </a:lnTo>
                <a:lnTo>
                  <a:pt x="134662" y="970704"/>
                </a:lnTo>
                <a:lnTo>
                  <a:pt x="163979" y="1003753"/>
                </a:lnTo>
                <a:lnTo>
                  <a:pt x="195666" y="1034625"/>
                </a:lnTo>
                <a:lnTo>
                  <a:pt x="229589" y="1063187"/>
                </a:lnTo>
                <a:lnTo>
                  <a:pt x="265610" y="1089306"/>
                </a:lnTo>
                <a:lnTo>
                  <a:pt x="303593" y="1112849"/>
                </a:lnTo>
                <a:lnTo>
                  <a:pt x="343403" y="1133684"/>
                </a:lnTo>
                <a:lnTo>
                  <a:pt x="384902" y="1151678"/>
                </a:lnTo>
                <a:lnTo>
                  <a:pt x="427955" y="1166698"/>
                </a:lnTo>
                <a:lnTo>
                  <a:pt x="472426" y="1178611"/>
                </a:lnTo>
                <a:lnTo>
                  <a:pt x="518177" y="1187285"/>
                </a:lnTo>
                <a:lnTo>
                  <a:pt x="565073" y="1192587"/>
                </a:lnTo>
                <a:lnTo>
                  <a:pt x="612978" y="1194384"/>
                </a:lnTo>
                <a:lnTo>
                  <a:pt x="660882" y="1192587"/>
                </a:lnTo>
                <a:lnTo>
                  <a:pt x="707778" y="1187285"/>
                </a:lnTo>
                <a:lnTo>
                  <a:pt x="753530" y="1178611"/>
                </a:lnTo>
                <a:lnTo>
                  <a:pt x="798000" y="1166698"/>
                </a:lnTo>
                <a:lnTo>
                  <a:pt x="841053" y="1151678"/>
                </a:lnTo>
                <a:lnTo>
                  <a:pt x="882552" y="1133684"/>
                </a:lnTo>
                <a:lnTo>
                  <a:pt x="922362" y="1112849"/>
                </a:lnTo>
                <a:lnTo>
                  <a:pt x="960345" y="1089306"/>
                </a:lnTo>
                <a:lnTo>
                  <a:pt x="996367" y="1063187"/>
                </a:lnTo>
                <a:lnTo>
                  <a:pt x="1030289" y="1034625"/>
                </a:lnTo>
                <a:lnTo>
                  <a:pt x="1061977" y="1003753"/>
                </a:lnTo>
                <a:lnTo>
                  <a:pt x="1091293" y="970704"/>
                </a:lnTo>
                <a:lnTo>
                  <a:pt x="1118102" y="935611"/>
                </a:lnTo>
                <a:lnTo>
                  <a:pt x="1142268" y="898605"/>
                </a:lnTo>
                <a:lnTo>
                  <a:pt x="1163653" y="859821"/>
                </a:lnTo>
                <a:lnTo>
                  <a:pt x="1182122" y="819391"/>
                </a:lnTo>
                <a:lnTo>
                  <a:pt x="1197539" y="777447"/>
                </a:lnTo>
                <a:lnTo>
                  <a:pt x="1209767" y="734122"/>
                </a:lnTo>
                <a:lnTo>
                  <a:pt x="1218670" y="689549"/>
                </a:lnTo>
                <a:lnTo>
                  <a:pt x="1224112" y="643862"/>
                </a:lnTo>
                <a:lnTo>
                  <a:pt x="1225956" y="597192"/>
                </a:lnTo>
                <a:lnTo>
                  <a:pt x="1224112" y="550520"/>
                </a:lnTo>
                <a:lnTo>
                  <a:pt x="1218670" y="504831"/>
                </a:lnTo>
                <a:lnTo>
                  <a:pt x="1209767" y="460257"/>
                </a:lnTo>
                <a:lnTo>
                  <a:pt x="1197539" y="416932"/>
                </a:lnTo>
                <a:lnTo>
                  <a:pt x="1182122" y="374987"/>
                </a:lnTo>
                <a:lnTo>
                  <a:pt x="1163653" y="334557"/>
                </a:lnTo>
                <a:lnTo>
                  <a:pt x="1142268" y="295772"/>
                </a:lnTo>
                <a:lnTo>
                  <a:pt x="1118102" y="258767"/>
                </a:lnTo>
                <a:lnTo>
                  <a:pt x="1091293" y="223674"/>
                </a:lnTo>
                <a:lnTo>
                  <a:pt x="1061977" y="190625"/>
                </a:lnTo>
                <a:lnTo>
                  <a:pt x="1030289" y="159753"/>
                </a:lnTo>
                <a:lnTo>
                  <a:pt x="996367" y="131192"/>
                </a:lnTo>
                <a:lnTo>
                  <a:pt x="960345" y="105074"/>
                </a:lnTo>
                <a:lnTo>
                  <a:pt x="922362" y="81531"/>
                </a:lnTo>
                <a:lnTo>
                  <a:pt x="882552" y="60697"/>
                </a:lnTo>
                <a:lnTo>
                  <a:pt x="841053" y="42703"/>
                </a:lnTo>
                <a:lnTo>
                  <a:pt x="798000" y="27684"/>
                </a:lnTo>
                <a:lnTo>
                  <a:pt x="753530" y="15771"/>
                </a:lnTo>
                <a:lnTo>
                  <a:pt x="707778" y="7098"/>
                </a:lnTo>
                <a:lnTo>
                  <a:pt x="660882" y="1796"/>
                </a:lnTo>
                <a:lnTo>
                  <a:pt x="612978" y="0"/>
                </a:lnTo>
                <a:close/>
              </a:path>
            </a:pathLst>
          </a:custGeom>
          <a:solidFill>
            <a:srgbClr val="FFFFFF"/>
          </a:solidFill>
        </p:spPr>
        <p:txBody>
          <a:bodyPr wrap="square" lIns="0" tIns="0" rIns="0" bIns="0" rtlCol="0"/>
          <a:lstStyle/>
          <a:p>
            <a:r>
              <a:rPr lang="en-US" dirty="0" smtClean="0"/>
              <a:t>    </a:t>
            </a:r>
            <a:r>
              <a:rPr lang="en-US" dirty="0" err="1" smtClean="0"/>
              <a:t>Pictrue</a:t>
            </a:r>
            <a:r>
              <a:rPr lang="en-US" dirty="0" smtClean="0"/>
              <a:t> </a:t>
            </a:r>
            <a:endParaRPr dirty="0"/>
          </a:p>
        </p:txBody>
      </p:sp>
      <p:sp>
        <p:nvSpPr>
          <p:cNvPr id="6" name="object 6"/>
          <p:cNvSpPr/>
          <p:nvPr/>
        </p:nvSpPr>
        <p:spPr>
          <a:xfrm>
            <a:off x="4720912" y="2938593"/>
            <a:ext cx="1226185" cy="1194435"/>
          </a:xfrm>
          <a:custGeom>
            <a:avLst/>
            <a:gdLst/>
            <a:ahLst/>
            <a:cxnLst/>
            <a:rect l="l" t="t" r="r" b="b"/>
            <a:pathLst>
              <a:path w="1226185" h="1194435">
                <a:moveTo>
                  <a:pt x="612978" y="0"/>
                </a:moveTo>
                <a:lnTo>
                  <a:pt x="565073" y="1796"/>
                </a:lnTo>
                <a:lnTo>
                  <a:pt x="518177" y="7098"/>
                </a:lnTo>
                <a:lnTo>
                  <a:pt x="472426" y="15771"/>
                </a:lnTo>
                <a:lnTo>
                  <a:pt x="427955" y="27684"/>
                </a:lnTo>
                <a:lnTo>
                  <a:pt x="384902" y="42703"/>
                </a:lnTo>
                <a:lnTo>
                  <a:pt x="343403" y="60697"/>
                </a:lnTo>
                <a:lnTo>
                  <a:pt x="303593" y="81531"/>
                </a:lnTo>
                <a:lnTo>
                  <a:pt x="265610" y="105074"/>
                </a:lnTo>
                <a:lnTo>
                  <a:pt x="229589" y="131192"/>
                </a:lnTo>
                <a:lnTo>
                  <a:pt x="195666" y="159753"/>
                </a:lnTo>
                <a:lnTo>
                  <a:pt x="163979" y="190625"/>
                </a:lnTo>
                <a:lnTo>
                  <a:pt x="134662" y="223674"/>
                </a:lnTo>
                <a:lnTo>
                  <a:pt x="107853" y="258767"/>
                </a:lnTo>
                <a:lnTo>
                  <a:pt x="83688" y="295772"/>
                </a:lnTo>
                <a:lnTo>
                  <a:pt x="62302" y="334557"/>
                </a:lnTo>
                <a:lnTo>
                  <a:pt x="43833" y="374987"/>
                </a:lnTo>
                <a:lnTo>
                  <a:pt x="28416" y="416932"/>
                </a:lnTo>
                <a:lnTo>
                  <a:pt x="16188" y="460257"/>
                </a:lnTo>
                <a:lnTo>
                  <a:pt x="7285" y="504831"/>
                </a:lnTo>
                <a:lnTo>
                  <a:pt x="1844" y="550520"/>
                </a:lnTo>
                <a:lnTo>
                  <a:pt x="0" y="597192"/>
                </a:lnTo>
                <a:lnTo>
                  <a:pt x="1844" y="643862"/>
                </a:lnTo>
                <a:lnTo>
                  <a:pt x="7285" y="689549"/>
                </a:lnTo>
                <a:lnTo>
                  <a:pt x="16188" y="734122"/>
                </a:lnTo>
                <a:lnTo>
                  <a:pt x="28416" y="777447"/>
                </a:lnTo>
                <a:lnTo>
                  <a:pt x="43833" y="819391"/>
                </a:lnTo>
                <a:lnTo>
                  <a:pt x="62302" y="859821"/>
                </a:lnTo>
                <a:lnTo>
                  <a:pt x="83688" y="898605"/>
                </a:lnTo>
                <a:lnTo>
                  <a:pt x="107853" y="935611"/>
                </a:lnTo>
                <a:lnTo>
                  <a:pt x="134662" y="970704"/>
                </a:lnTo>
                <a:lnTo>
                  <a:pt x="163979" y="1003753"/>
                </a:lnTo>
                <a:lnTo>
                  <a:pt x="195666" y="1034625"/>
                </a:lnTo>
                <a:lnTo>
                  <a:pt x="229589" y="1063187"/>
                </a:lnTo>
                <a:lnTo>
                  <a:pt x="265610" y="1089306"/>
                </a:lnTo>
                <a:lnTo>
                  <a:pt x="303593" y="1112849"/>
                </a:lnTo>
                <a:lnTo>
                  <a:pt x="343403" y="1133684"/>
                </a:lnTo>
                <a:lnTo>
                  <a:pt x="384902" y="1151678"/>
                </a:lnTo>
                <a:lnTo>
                  <a:pt x="427955" y="1166698"/>
                </a:lnTo>
                <a:lnTo>
                  <a:pt x="472426" y="1178611"/>
                </a:lnTo>
                <a:lnTo>
                  <a:pt x="518177" y="1187285"/>
                </a:lnTo>
                <a:lnTo>
                  <a:pt x="565073" y="1192587"/>
                </a:lnTo>
                <a:lnTo>
                  <a:pt x="612978" y="1194384"/>
                </a:lnTo>
                <a:lnTo>
                  <a:pt x="660882" y="1192587"/>
                </a:lnTo>
                <a:lnTo>
                  <a:pt x="707778" y="1187285"/>
                </a:lnTo>
                <a:lnTo>
                  <a:pt x="753530" y="1178611"/>
                </a:lnTo>
                <a:lnTo>
                  <a:pt x="798000" y="1166698"/>
                </a:lnTo>
                <a:lnTo>
                  <a:pt x="841053" y="1151678"/>
                </a:lnTo>
                <a:lnTo>
                  <a:pt x="882552" y="1133684"/>
                </a:lnTo>
                <a:lnTo>
                  <a:pt x="922362" y="1112849"/>
                </a:lnTo>
                <a:lnTo>
                  <a:pt x="960345" y="1089306"/>
                </a:lnTo>
                <a:lnTo>
                  <a:pt x="996367" y="1063187"/>
                </a:lnTo>
                <a:lnTo>
                  <a:pt x="1030289" y="1034625"/>
                </a:lnTo>
                <a:lnTo>
                  <a:pt x="1061977" y="1003753"/>
                </a:lnTo>
                <a:lnTo>
                  <a:pt x="1091293" y="970704"/>
                </a:lnTo>
                <a:lnTo>
                  <a:pt x="1118102" y="935611"/>
                </a:lnTo>
                <a:lnTo>
                  <a:pt x="1142268" y="898605"/>
                </a:lnTo>
                <a:lnTo>
                  <a:pt x="1163653" y="859821"/>
                </a:lnTo>
                <a:lnTo>
                  <a:pt x="1182122" y="819391"/>
                </a:lnTo>
                <a:lnTo>
                  <a:pt x="1197539" y="777447"/>
                </a:lnTo>
                <a:lnTo>
                  <a:pt x="1209767" y="734122"/>
                </a:lnTo>
                <a:lnTo>
                  <a:pt x="1218670" y="689549"/>
                </a:lnTo>
                <a:lnTo>
                  <a:pt x="1224112" y="643862"/>
                </a:lnTo>
                <a:lnTo>
                  <a:pt x="1225956" y="597192"/>
                </a:lnTo>
                <a:lnTo>
                  <a:pt x="1224112" y="550520"/>
                </a:lnTo>
                <a:lnTo>
                  <a:pt x="1218670" y="504831"/>
                </a:lnTo>
                <a:lnTo>
                  <a:pt x="1209767" y="460257"/>
                </a:lnTo>
                <a:lnTo>
                  <a:pt x="1197539" y="416932"/>
                </a:lnTo>
                <a:lnTo>
                  <a:pt x="1182122" y="374987"/>
                </a:lnTo>
                <a:lnTo>
                  <a:pt x="1163653" y="334557"/>
                </a:lnTo>
                <a:lnTo>
                  <a:pt x="1142268" y="295772"/>
                </a:lnTo>
                <a:lnTo>
                  <a:pt x="1118102" y="258767"/>
                </a:lnTo>
                <a:lnTo>
                  <a:pt x="1091293" y="223674"/>
                </a:lnTo>
                <a:lnTo>
                  <a:pt x="1061977" y="190625"/>
                </a:lnTo>
                <a:lnTo>
                  <a:pt x="1030289" y="159753"/>
                </a:lnTo>
                <a:lnTo>
                  <a:pt x="996367" y="131192"/>
                </a:lnTo>
                <a:lnTo>
                  <a:pt x="960345" y="105074"/>
                </a:lnTo>
                <a:lnTo>
                  <a:pt x="922362" y="81531"/>
                </a:lnTo>
                <a:lnTo>
                  <a:pt x="882552" y="60697"/>
                </a:lnTo>
                <a:lnTo>
                  <a:pt x="841053" y="42703"/>
                </a:lnTo>
                <a:lnTo>
                  <a:pt x="798000" y="27684"/>
                </a:lnTo>
                <a:lnTo>
                  <a:pt x="753530" y="15771"/>
                </a:lnTo>
                <a:lnTo>
                  <a:pt x="707778" y="7098"/>
                </a:lnTo>
                <a:lnTo>
                  <a:pt x="660882" y="1796"/>
                </a:lnTo>
                <a:lnTo>
                  <a:pt x="612978" y="0"/>
                </a:lnTo>
                <a:close/>
              </a:path>
            </a:pathLst>
          </a:custGeom>
          <a:solidFill>
            <a:srgbClr val="FFFFFF"/>
          </a:solidFill>
        </p:spPr>
        <p:txBody>
          <a:bodyPr wrap="square" lIns="0" tIns="0" rIns="0" bIns="0" rtlCol="0"/>
          <a:lstStyle/>
          <a:p>
            <a:r>
              <a:rPr lang="en-US" dirty="0" smtClean="0"/>
              <a:t>     Picture</a:t>
            </a:r>
            <a:endParaRPr dirty="0"/>
          </a:p>
        </p:txBody>
      </p:sp>
      <p:sp>
        <p:nvSpPr>
          <p:cNvPr id="19" name="object 19"/>
          <p:cNvSpPr txBox="1"/>
          <p:nvPr/>
        </p:nvSpPr>
        <p:spPr>
          <a:xfrm>
            <a:off x="2489379" y="4235677"/>
            <a:ext cx="1360805" cy="197490"/>
          </a:xfrm>
          <a:prstGeom prst="rect">
            <a:avLst/>
          </a:prstGeom>
        </p:spPr>
        <p:txBody>
          <a:bodyPr vert="horz" wrap="square" lIns="0" tIns="12700" rIns="0" bIns="0" rtlCol="0">
            <a:spAutoFit/>
          </a:bodyPr>
          <a:lstStyle/>
          <a:p>
            <a:pPr marL="12700">
              <a:lnSpc>
                <a:spcPct val="100000"/>
              </a:lnSpc>
              <a:spcBef>
                <a:spcPts val="100"/>
              </a:spcBef>
            </a:pPr>
            <a:r>
              <a:rPr lang="en-US" sz="1200" spc="70" dirty="0" smtClean="0">
                <a:latin typeface="Lucida Sans Unicode"/>
                <a:cs typeface="Lucida Sans Unicode"/>
              </a:rPr>
              <a:t>        name</a:t>
            </a:r>
            <a:endParaRPr sz="1200" dirty="0">
              <a:latin typeface="Lucida Sans Unicode"/>
              <a:cs typeface="Lucida Sans Unicode"/>
            </a:endParaRPr>
          </a:p>
        </p:txBody>
      </p:sp>
      <p:sp>
        <p:nvSpPr>
          <p:cNvPr id="21" name="object 21"/>
          <p:cNvSpPr txBox="1"/>
          <p:nvPr/>
        </p:nvSpPr>
        <p:spPr>
          <a:xfrm>
            <a:off x="7192645" y="4334422"/>
            <a:ext cx="71120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smtClean="0">
                <a:latin typeface="Lucida Sans Unicode"/>
                <a:cs typeface="Lucida Sans Unicode"/>
              </a:rPr>
              <a:t>   name</a:t>
            </a:r>
            <a:endParaRPr sz="1200" dirty="0">
              <a:latin typeface="Lucida Sans Unicode"/>
              <a:cs typeface="Lucida Sans Unicode"/>
            </a:endParaRPr>
          </a:p>
        </p:txBody>
      </p:sp>
      <p:sp>
        <p:nvSpPr>
          <p:cNvPr id="22" name="object 22"/>
          <p:cNvSpPr txBox="1"/>
          <p:nvPr/>
        </p:nvSpPr>
        <p:spPr>
          <a:xfrm>
            <a:off x="4720912" y="4308995"/>
            <a:ext cx="1448435" cy="197490"/>
          </a:xfrm>
          <a:prstGeom prst="rect">
            <a:avLst/>
          </a:prstGeom>
        </p:spPr>
        <p:txBody>
          <a:bodyPr vert="horz" wrap="square" lIns="0" tIns="12700" rIns="0" bIns="0" rtlCol="0">
            <a:spAutoFit/>
          </a:bodyPr>
          <a:lstStyle/>
          <a:p>
            <a:pPr marL="12700">
              <a:lnSpc>
                <a:spcPct val="100000"/>
              </a:lnSpc>
              <a:spcBef>
                <a:spcPts val="100"/>
              </a:spcBef>
            </a:pPr>
            <a:r>
              <a:rPr lang="en-US" sz="1200" b="1" spc="90" dirty="0" smtClean="0">
                <a:latin typeface="Trebuchet MS"/>
                <a:cs typeface="Trebuchet MS"/>
              </a:rPr>
              <a:t>         name</a:t>
            </a:r>
            <a:endParaRPr sz="1200" dirty="0">
              <a:latin typeface="Trebuchet MS"/>
              <a:cs typeface="Trebuchet MS"/>
            </a:endParaRPr>
          </a:p>
        </p:txBody>
      </p:sp>
      <p:sp>
        <p:nvSpPr>
          <p:cNvPr id="25" name="object 25"/>
          <p:cNvSpPr txBox="1"/>
          <p:nvPr/>
        </p:nvSpPr>
        <p:spPr>
          <a:xfrm>
            <a:off x="869256" y="1830800"/>
            <a:ext cx="7538084" cy="391160"/>
          </a:xfrm>
          <a:prstGeom prst="rect">
            <a:avLst/>
          </a:prstGeom>
        </p:spPr>
        <p:txBody>
          <a:bodyPr vert="horz" wrap="square" lIns="0" tIns="12700" rIns="0" bIns="0" rtlCol="0">
            <a:spAutoFit/>
          </a:bodyPr>
          <a:lstStyle/>
          <a:p>
            <a:pPr marL="12700" marR="5080">
              <a:lnSpc>
                <a:spcPct val="100000"/>
              </a:lnSpc>
              <a:spcBef>
                <a:spcPts val="100"/>
              </a:spcBef>
            </a:pPr>
            <a:r>
              <a:rPr sz="1200" spc="50" dirty="0">
                <a:latin typeface="Trebuchet MS"/>
                <a:cs typeface="Trebuchet MS"/>
              </a:rPr>
              <a:t>The</a:t>
            </a:r>
            <a:r>
              <a:rPr sz="1200" spc="-30" dirty="0">
                <a:latin typeface="Trebuchet MS"/>
                <a:cs typeface="Trebuchet MS"/>
              </a:rPr>
              <a:t> </a:t>
            </a:r>
            <a:r>
              <a:rPr sz="1200" spc="70" dirty="0">
                <a:latin typeface="Trebuchet MS"/>
                <a:cs typeface="Trebuchet MS"/>
              </a:rPr>
              <a:t>Kloudrop</a:t>
            </a:r>
            <a:r>
              <a:rPr sz="1200" spc="-25" dirty="0">
                <a:latin typeface="Trebuchet MS"/>
                <a:cs typeface="Trebuchet MS"/>
              </a:rPr>
              <a:t> </a:t>
            </a:r>
            <a:r>
              <a:rPr sz="1200" spc="114" dirty="0">
                <a:latin typeface="Trebuchet MS"/>
                <a:cs typeface="Trebuchet MS"/>
              </a:rPr>
              <a:t>team</a:t>
            </a:r>
            <a:r>
              <a:rPr sz="1200" spc="-30" dirty="0">
                <a:latin typeface="Trebuchet MS"/>
                <a:cs typeface="Trebuchet MS"/>
              </a:rPr>
              <a:t> </a:t>
            </a:r>
            <a:r>
              <a:rPr sz="1200" spc="145" dirty="0">
                <a:latin typeface="Trebuchet MS"/>
                <a:cs typeface="Trebuchet MS"/>
              </a:rPr>
              <a:t>has</a:t>
            </a:r>
            <a:r>
              <a:rPr sz="1200" spc="-25" dirty="0">
                <a:latin typeface="Trebuchet MS"/>
                <a:cs typeface="Trebuchet MS"/>
              </a:rPr>
              <a:t> </a:t>
            </a:r>
            <a:r>
              <a:rPr sz="1200" spc="55" dirty="0">
                <a:latin typeface="Trebuchet MS"/>
                <a:cs typeface="Trebuchet MS"/>
              </a:rPr>
              <a:t>extensive</a:t>
            </a:r>
            <a:r>
              <a:rPr sz="1200" spc="-25" dirty="0">
                <a:latin typeface="Trebuchet MS"/>
                <a:cs typeface="Trebuchet MS"/>
              </a:rPr>
              <a:t> </a:t>
            </a:r>
            <a:r>
              <a:rPr sz="1200" spc="85" dirty="0">
                <a:latin typeface="Trebuchet MS"/>
                <a:cs typeface="Trebuchet MS"/>
              </a:rPr>
              <a:t>knowledge</a:t>
            </a:r>
            <a:r>
              <a:rPr sz="1200" spc="-30" dirty="0">
                <a:latin typeface="Trebuchet MS"/>
                <a:cs typeface="Trebuchet MS"/>
              </a:rPr>
              <a:t> </a:t>
            </a:r>
            <a:r>
              <a:rPr sz="1200" spc="145" dirty="0">
                <a:latin typeface="Trebuchet MS"/>
                <a:cs typeface="Trebuchet MS"/>
              </a:rPr>
              <a:t>and</a:t>
            </a:r>
            <a:r>
              <a:rPr sz="1200" spc="-25" dirty="0">
                <a:latin typeface="Trebuchet MS"/>
                <a:cs typeface="Trebuchet MS"/>
              </a:rPr>
              <a:t> </a:t>
            </a:r>
            <a:r>
              <a:rPr sz="1200" spc="65" dirty="0">
                <a:latin typeface="Trebuchet MS"/>
                <a:cs typeface="Trebuchet MS"/>
              </a:rPr>
              <a:t>experience</a:t>
            </a:r>
            <a:r>
              <a:rPr sz="1200" spc="-30" dirty="0">
                <a:latin typeface="Trebuchet MS"/>
                <a:cs typeface="Trebuchet MS"/>
              </a:rPr>
              <a:t> </a:t>
            </a:r>
            <a:r>
              <a:rPr sz="1200" spc="145" dirty="0">
                <a:latin typeface="Trebuchet MS"/>
                <a:cs typeface="Trebuchet MS"/>
              </a:rPr>
              <a:t>and</a:t>
            </a:r>
            <a:r>
              <a:rPr sz="1200" spc="-25" dirty="0">
                <a:latin typeface="Trebuchet MS"/>
                <a:cs typeface="Trebuchet MS"/>
              </a:rPr>
              <a:t> </a:t>
            </a:r>
            <a:r>
              <a:rPr sz="1200" dirty="0">
                <a:latin typeface="Trebuchet MS"/>
                <a:cs typeface="Trebuchet MS"/>
              </a:rPr>
              <a:t>all</a:t>
            </a:r>
            <a:r>
              <a:rPr sz="1200" spc="-25" dirty="0">
                <a:latin typeface="Trebuchet MS"/>
                <a:cs typeface="Trebuchet MS"/>
              </a:rPr>
              <a:t> </a:t>
            </a:r>
            <a:r>
              <a:rPr sz="1200" spc="50" dirty="0">
                <a:latin typeface="Trebuchet MS"/>
                <a:cs typeface="Trebuchet MS"/>
              </a:rPr>
              <a:t>the</a:t>
            </a:r>
            <a:r>
              <a:rPr sz="1200" spc="-30" dirty="0">
                <a:latin typeface="Trebuchet MS"/>
                <a:cs typeface="Trebuchet MS"/>
              </a:rPr>
              <a:t> </a:t>
            </a:r>
            <a:r>
              <a:rPr sz="1200" spc="100" dirty="0">
                <a:latin typeface="Trebuchet MS"/>
                <a:cs typeface="Trebuchet MS"/>
              </a:rPr>
              <a:t>necessary</a:t>
            </a:r>
            <a:r>
              <a:rPr sz="1200" spc="-25" dirty="0">
                <a:latin typeface="Trebuchet MS"/>
                <a:cs typeface="Trebuchet MS"/>
              </a:rPr>
              <a:t> </a:t>
            </a:r>
            <a:r>
              <a:rPr sz="1200" spc="45" dirty="0">
                <a:latin typeface="Trebuchet MS"/>
                <a:cs typeface="Trebuchet MS"/>
              </a:rPr>
              <a:t>entrepreneurial </a:t>
            </a:r>
            <a:r>
              <a:rPr sz="1200" spc="55" dirty="0">
                <a:latin typeface="Trebuchet MS"/>
                <a:cs typeface="Trebuchet MS"/>
              </a:rPr>
              <a:t>qualities</a:t>
            </a:r>
            <a:r>
              <a:rPr sz="1200" spc="-25" dirty="0">
                <a:latin typeface="Trebuchet MS"/>
                <a:cs typeface="Trebuchet MS"/>
              </a:rPr>
              <a:t> </a:t>
            </a:r>
            <a:r>
              <a:rPr sz="1200" spc="145" dirty="0">
                <a:latin typeface="Trebuchet MS"/>
                <a:cs typeface="Trebuchet MS"/>
              </a:rPr>
              <a:t>and</a:t>
            </a:r>
            <a:r>
              <a:rPr sz="1200" spc="-25" dirty="0">
                <a:latin typeface="Trebuchet MS"/>
                <a:cs typeface="Trebuchet MS"/>
              </a:rPr>
              <a:t> </a:t>
            </a:r>
            <a:r>
              <a:rPr sz="1200" spc="100" dirty="0">
                <a:latin typeface="Trebuchet MS"/>
                <a:cs typeface="Trebuchet MS"/>
              </a:rPr>
              <a:t>business</a:t>
            </a:r>
            <a:r>
              <a:rPr sz="1200" spc="-20" dirty="0">
                <a:latin typeface="Trebuchet MS"/>
                <a:cs typeface="Trebuchet MS"/>
              </a:rPr>
              <a:t> </a:t>
            </a:r>
            <a:r>
              <a:rPr sz="1200" spc="65" dirty="0">
                <a:latin typeface="Trebuchet MS"/>
                <a:cs typeface="Trebuchet MS"/>
              </a:rPr>
              <a:t>disciplines</a:t>
            </a:r>
            <a:r>
              <a:rPr sz="1200" spc="-25" dirty="0">
                <a:latin typeface="Trebuchet MS"/>
                <a:cs typeface="Trebuchet MS"/>
              </a:rPr>
              <a:t> </a:t>
            </a:r>
            <a:r>
              <a:rPr sz="1200" dirty="0">
                <a:latin typeface="Trebuchet MS"/>
                <a:cs typeface="Trebuchet MS"/>
              </a:rPr>
              <a:t>to</a:t>
            </a:r>
            <a:r>
              <a:rPr sz="1200" spc="-25" dirty="0">
                <a:latin typeface="Trebuchet MS"/>
                <a:cs typeface="Trebuchet MS"/>
              </a:rPr>
              <a:t> </a:t>
            </a:r>
            <a:r>
              <a:rPr sz="1200" spc="90" dirty="0">
                <a:latin typeface="Trebuchet MS"/>
                <a:cs typeface="Trebuchet MS"/>
              </a:rPr>
              <a:t>develop</a:t>
            </a:r>
            <a:r>
              <a:rPr sz="1200" spc="-20" dirty="0">
                <a:latin typeface="Trebuchet MS"/>
                <a:cs typeface="Trebuchet MS"/>
              </a:rPr>
              <a:t> </a:t>
            </a:r>
            <a:r>
              <a:rPr sz="1200" spc="145" dirty="0">
                <a:latin typeface="Trebuchet MS"/>
                <a:cs typeface="Trebuchet MS"/>
              </a:rPr>
              <a:t>and</a:t>
            </a:r>
            <a:r>
              <a:rPr sz="1200" spc="-25" dirty="0">
                <a:latin typeface="Trebuchet MS"/>
                <a:cs typeface="Trebuchet MS"/>
              </a:rPr>
              <a:t> </a:t>
            </a:r>
            <a:r>
              <a:rPr sz="1200" spc="60" dirty="0">
                <a:latin typeface="Trebuchet MS"/>
                <a:cs typeface="Trebuchet MS"/>
              </a:rPr>
              <a:t>position</a:t>
            </a:r>
            <a:r>
              <a:rPr sz="1200" spc="-25" dirty="0">
                <a:latin typeface="Trebuchet MS"/>
                <a:cs typeface="Trebuchet MS"/>
              </a:rPr>
              <a:t> </a:t>
            </a:r>
            <a:r>
              <a:rPr sz="1200" spc="50" dirty="0">
                <a:latin typeface="Trebuchet MS"/>
                <a:cs typeface="Trebuchet MS"/>
              </a:rPr>
              <a:t>the</a:t>
            </a:r>
            <a:r>
              <a:rPr sz="1200" spc="-20" dirty="0">
                <a:latin typeface="Trebuchet MS"/>
                <a:cs typeface="Trebuchet MS"/>
              </a:rPr>
              <a:t> </a:t>
            </a:r>
            <a:r>
              <a:rPr sz="1200" spc="50" dirty="0">
                <a:latin typeface="Trebuchet MS"/>
                <a:cs typeface="Trebuchet MS"/>
              </a:rPr>
              <a:t>brand.</a:t>
            </a:r>
            <a:endParaRPr sz="1200">
              <a:latin typeface="Trebuchet MS"/>
              <a:cs typeface="Trebuchet MS"/>
            </a:endParaRPr>
          </a:p>
        </p:txBody>
      </p:sp>
      <p:sp>
        <p:nvSpPr>
          <p:cNvPr id="42" name="object 42"/>
          <p:cNvSpPr txBox="1">
            <a:spLocks noGrp="1"/>
          </p:cNvSpPr>
          <p:nvPr>
            <p:ph type="sldNum" sz="quarter" idx="7"/>
          </p:nvPr>
        </p:nvSpPr>
        <p:spPr>
          <a:prstGeom prst="rect">
            <a:avLst/>
          </a:prstGeom>
        </p:spPr>
        <p:txBody>
          <a:bodyPr vert="horz" wrap="square" lIns="0" tIns="0" rIns="0" bIns="0" rtlCol="0">
            <a:spAutoFit/>
          </a:bodyPr>
          <a:lstStyle/>
          <a:p>
            <a:pPr marL="20320">
              <a:lnSpc>
                <a:spcPts val="2625"/>
              </a:lnSpc>
            </a:pPr>
            <a:fld id="{81D60167-4931-47E6-BA6A-407CBD079E47}" type="slidenum">
              <a:rPr spc="-530" dirty="0"/>
              <a:t>10</a:t>
            </a:fld>
            <a:endParaRPr spc="-530" dirty="0"/>
          </a:p>
        </p:txBody>
      </p:sp>
      <p:sp>
        <p:nvSpPr>
          <p:cNvPr id="41" name="object 41"/>
          <p:cNvSpPr txBox="1">
            <a:spLocks noGrp="1"/>
          </p:cNvSpPr>
          <p:nvPr>
            <p:ph type="title"/>
          </p:nvPr>
        </p:nvSpPr>
        <p:spPr>
          <a:prstGeom prst="rect">
            <a:avLst/>
          </a:prstGeom>
        </p:spPr>
        <p:txBody>
          <a:bodyPr vert="horz" wrap="square" lIns="0" tIns="12700" rIns="0" bIns="0" rtlCol="0">
            <a:spAutoFit/>
          </a:bodyPr>
          <a:lstStyle/>
          <a:p>
            <a:pPr marL="46990">
              <a:lnSpc>
                <a:spcPct val="100000"/>
              </a:lnSpc>
              <a:spcBef>
                <a:spcPts val="100"/>
              </a:spcBef>
            </a:pPr>
            <a:r>
              <a:rPr spc="450" dirty="0"/>
              <a:t>team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898"/>
            <a:ext cx="10683240" cy="7553325"/>
            <a:chOff x="0" y="6898"/>
            <a:chExt cx="10683240" cy="7553325"/>
          </a:xfrm>
        </p:grpSpPr>
        <p:pic>
          <p:nvPicPr>
            <p:cNvPr id="3" name="object 3"/>
            <p:cNvPicPr/>
            <p:nvPr/>
          </p:nvPicPr>
          <p:blipFill>
            <a:blip r:embed="rId3" cstate="print"/>
            <a:stretch>
              <a:fillRect/>
            </a:stretch>
          </p:blipFill>
          <p:spPr>
            <a:xfrm>
              <a:off x="0" y="6898"/>
              <a:ext cx="10682998" cy="7553106"/>
            </a:xfrm>
            <a:prstGeom prst="rect">
              <a:avLst/>
            </a:prstGeom>
          </p:spPr>
        </p:pic>
        <p:sp>
          <p:nvSpPr>
            <p:cNvPr id="4" name="object 4"/>
            <p:cNvSpPr/>
            <p:nvPr/>
          </p:nvSpPr>
          <p:spPr>
            <a:xfrm>
              <a:off x="6255003" y="3195002"/>
              <a:ext cx="497205" cy="99060"/>
            </a:xfrm>
            <a:custGeom>
              <a:avLst/>
              <a:gdLst/>
              <a:ahLst/>
              <a:cxnLst/>
              <a:rect l="l" t="t" r="r" b="b"/>
              <a:pathLst>
                <a:path w="497204" h="99060">
                  <a:moveTo>
                    <a:pt x="496798" y="0"/>
                  </a:moveTo>
                  <a:lnTo>
                    <a:pt x="0" y="0"/>
                  </a:lnTo>
                  <a:lnTo>
                    <a:pt x="0" y="98996"/>
                  </a:lnTo>
                  <a:lnTo>
                    <a:pt x="496798" y="98996"/>
                  </a:lnTo>
                  <a:lnTo>
                    <a:pt x="496798" y="0"/>
                  </a:lnTo>
                  <a:close/>
                </a:path>
              </a:pathLst>
            </a:custGeom>
            <a:solidFill>
              <a:srgbClr val="FFFFFF"/>
            </a:solidFill>
          </p:spPr>
          <p:txBody>
            <a:bodyPr wrap="square" lIns="0" tIns="0" rIns="0" bIns="0" rtlCol="0"/>
            <a:lstStyle/>
            <a:p>
              <a:endParaRPr/>
            </a:p>
          </p:txBody>
        </p:sp>
        <p:pic>
          <p:nvPicPr>
            <p:cNvPr id="5" name="object 5"/>
            <p:cNvPicPr/>
            <p:nvPr/>
          </p:nvPicPr>
          <p:blipFill>
            <a:blip r:embed="rId4" cstate="print"/>
            <a:stretch>
              <a:fillRect/>
            </a:stretch>
          </p:blipFill>
          <p:spPr>
            <a:xfrm>
              <a:off x="7428598" y="5445010"/>
              <a:ext cx="293401" cy="106333"/>
            </a:xfrm>
            <a:prstGeom prst="rect">
              <a:avLst/>
            </a:prstGeom>
          </p:spPr>
        </p:pic>
        <p:pic>
          <p:nvPicPr>
            <p:cNvPr id="6" name="object 6"/>
            <p:cNvPicPr/>
            <p:nvPr/>
          </p:nvPicPr>
          <p:blipFill>
            <a:blip r:embed="rId5" cstate="print"/>
            <a:stretch>
              <a:fillRect/>
            </a:stretch>
          </p:blipFill>
          <p:spPr>
            <a:xfrm>
              <a:off x="5160599" y="3549520"/>
              <a:ext cx="428400" cy="127854"/>
            </a:xfrm>
            <a:prstGeom prst="rect">
              <a:avLst/>
            </a:prstGeom>
          </p:spPr>
        </p:pic>
        <p:pic>
          <p:nvPicPr>
            <p:cNvPr id="7" name="object 7"/>
            <p:cNvPicPr/>
            <p:nvPr/>
          </p:nvPicPr>
          <p:blipFill>
            <a:blip r:embed="rId6" cstate="print"/>
            <a:stretch>
              <a:fillRect/>
            </a:stretch>
          </p:blipFill>
          <p:spPr>
            <a:xfrm>
              <a:off x="6256710" y="3153604"/>
              <a:ext cx="424979" cy="205635"/>
            </a:xfrm>
            <a:prstGeom prst="rect">
              <a:avLst/>
            </a:prstGeom>
          </p:spPr>
        </p:pic>
        <p:pic>
          <p:nvPicPr>
            <p:cNvPr id="8" name="object 8"/>
            <p:cNvPicPr/>
            <p:nvPr/>
          </p:nvPicPr>
          <p:blipFill>
            <a:blip r:embed="rId7" cstate="print"/>
            <a:stretch>
              <a:fillRect/>
            </a:stretch>
          </p:blipFill>
          <p:spPr>
            <a:xfrm>
              <a:off x="8129249" y="5212587"/>
              <a:ext cx="289351" cy="135435"/>
            </a:xfrm>
            <a:prstGeom prst="rect">
              <a:avLst/>
            </a:prstGeom>
          </p:spPr>
        </p:pic>
        <p:sp>
          <p:nvSpPr>
            <p:cNvPr id="9" name="object 9"/>
            <p:cNvSpPr/>
            <p:nvPr/>
          </p:nvSpPr>
          <p:spPr>
            <a:xfrm>
              <a:off x="6738300" y="4046409"/>
              <a:ext cx="407034" cy="135890"/>
            </a:xfrm>
            <a:custGeom>
              <a:avLst/>
              <a:gdLst/>
              <a:ahLst/>
              <a:cxnLst/>
              <a:rect l="l" t="t" r="r" b="b"/>
              <a:pathLst>
                <a:path w="407034" h="135889">
                  <a:moveTo>
                    <a:pt x="406793" y="0"/>
                  </a:moveTo>
                  <a:lnTo>
                    <a:pt x="11125" y="4864"/>
                  </a:lnTo>
                  <a:lnTo>
                    <a:pt x="0" y="21526"/>
                  </a:lnTo>
                  <a:lnTo>
                    <a:pt x="11125" y="60426"/>
                  </a:lnTo>
                  <a:lnTo>
                    <a:pt x="14630" y="118757"/>
                  </a:lnTo>
                  <a:lnTo>
                    <a:pt x="399770" y="135432"/>
                  </a:lnTo>
                  <a:lnTo>
                    <a:pt x="406793" y="0"/>
                  </a:lnTo>
                  <a:close/>
                </a:path>
              </a:pathLst>
            </a:custGeom>
            <a:solidFill>
              <a:srgbClr val="FFFFFF"/>
            </a:solidFill>
          </p:spPr>
          <p:txBody>
            <a:bodyPr wrap="square" lIns="0" tIns="0" rIns="0" bIns="0" rtlCol="0"/>
            <a:lstStyle/>
            <a:p>
              <a:endParaRPr/>
            </a:p>
          </p:txBody>
        </p:sp>
        <p:pic>
          <p:nvPicPr>
            <p:cNvPr id="10" name="object 10"/>
            <p:cNvPicPr/>
            <p:nvPr/>
          </p:nvPicPr>
          <p:blipFill>
            <a:blip r:embed="rId8" cstate="print"/>
            <a:stretch>
              <a:fillRect/>
            </a:stretch>
          </p:blipFill>
          <p:spPr>
            <a:xfrm>
              <a:off x="6788518" y="3967924"/>
              <a:ext cx="298081" cy="251282"/>
            </a:xfrm>
            <a:prstGeom prst="rect">
              <a:avLst/>
            </a:prstGeom>
          </p:spPr>
        </p:pic>
        <p:pic>
          <p:nvPicPr>
            <p:cNvPr id="11" name="object 11"/>
            <p:cNvPicPr/>
            <p:nvPr/>
          </p:nvPicPr>
          <p:blipFill>
            <a:blip r:embed="rId9" cstate="print"/>
            <a:stretch>
              <a:fillRect/>
            </a:stretch>
          </p:blipFill>
          <p:spPr>
            <a:xfrm>
              <a:off x="8445599" y="5732107"/>
              <a:ext cx="266850" cy="172796"/>
            </a:xfrm>
            <a:prstGeom prst="rect">
              <a:avLst/>
            </a:prstGeom>
          </p:spPr>
        </p:pic>
      </p:gr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20320">
              <a:lnSpc>
                <a:spcPts val="2625"/>
              </a:lnSpc>
            </a:pPr>
            <a:fld id="{81D60167-4931-47E6-BA6A-407CBD079E47}" type="slidenum">
              <a:rPr spc="-530" dirty="0"/>
              <a:t>11</a:t>
            </a:fld>
            <a:endParaRPr spc="-530" dirty="0"/>
          </a:p>
        </p:txBody>
      </p:sp>
      <p:sp>
        <p:nvSpPr>
          <p:cNvPr id="13" name="TextBox 12"/>
          <p:cNvSpPr txBox="1"/>
          <p:nvPr/>
        </p:nvSpPr>
        <p:spPr>
          <a:xfrm>
            <a:off x="850900" y="733425"/>
            <a:ext cx="1467068" cy="369332"/>
          </a:xfrm>
          <a:prstGeom prst="rect">
            <a:avLst/>
          </a:prstGeom>
          <a:noFill/>
        </p:spPr>
        <p:txBody>
          <a:bodyPr wrap="none" rtlCol="0">
            <a:spAutoFit/>
          </a:bodyPr>
          <a:lstStyle/>
          <a:p>
            <a:r>
              <a:rPr lang="en-US" b="1" u="sng" dirty="0" smtClean="0">
                <a:solidFill>
                  <a:srgbClr val="FF0000"/>
                </a:solidFill>
              </a:rPr>
              <a:t>Back-Cover</a:t>
            </a:r>
            <a:endParaRPr lang="en-GB" b="1" u="sng" dirty="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601</TotalTime>
  <Words>311</Words>
  <Application>Microsoft Office PowerPoint</Application>
  <PresentationFormat>Custom</PresentationFormat>
  <Paragraphs>65</Paragraphs>
  <Slides>11</Slides>
  <Notes>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about us</vt:lpstr>
      <vt:lpstr>Kloudrop Idea</vt:lpstr>
      <vt:lpstr>Kloudrop Business  (Product Operations/Functions)</vt:lpstr>
      <vt:lpstr>Kloudrop Business  (Product Operations/Functions)</vt:lpstr>
      <vt:lpstr>Kloudrop Business (Product Operations/Functions)</vt:lpstr>
      <vt:lpstr>Kloudrop Business  (Revenue Model)</vt:lpstr>
      <vt:lpstr>Kloudrop Business  (Market Expansion &amp; Growth)</vt:lpstr>
      <vt:lpstr>team</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Cb5agh</dc:creator>
  <cp:lastModifiedBy>Cb5agh</cp:lastModifiedBy>
  <cp:revision>28</cp:revision>
  <dcterms:created xsi:type="dcterms:W3CDTF">2025-01-29T11:09:25Z</dcterms:created>
  <dcterms:modified xsi:type="dcterms:W3CDTF">2025-05-09T19:51:45Z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2022-03-02T00:00:00Z</vt:filetime>
  </property>
  <property fmtid="{D5CDD505-2E9C-101B-9397-08002B2CF9AE}" pid="3" name="Creator">
    <vt:lpwstr>Adobe InDesign 17.1 (Windows)</vt:lpwstr>
  </property>
  <property fmtid="{D5CDD505-2E9C-101B-9397-08002B2CF9AE}" pid="4" name="LastSaved">
    <vt:filetime>2025-01-29T00:00:00Z</vt:filetime>
  </property>
  <property fmtid="{D5CDD505-2E9C-101B-9397-08002B2CF9AE}" pid="5" name="Producer">
    <vt:lpwstr>Adobe PDF Library 16.0.5</vt:lpwstr>
  </property>
</Properties>
</file>